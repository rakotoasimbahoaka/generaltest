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30"/>
  </p:notesMasterIdLst>
  <p:sldIdLst>
    <p:sldId id="285" r:id="rId2"/>
    <p:sldId id="271" r:id="rId3"/>
    <p:sldId id="268" r:id="rId4"/>
    <p:sldId id="269" r:id="rId5"/>
    <p:sldId id="275" r:id="rId6"/>
    <p:sldId id="270" r:id="rId7"/>
    <p:sldId id="290" r:id="rId8"/>
    <p:sldId id="272" r:id="rId9"/>
    <p:sldId id="291" r:id="rId10"/>
    <p:sldId id="273" r:id="rId11"/>
    <p:sldId id="274" r:id="rId12"/>
    <p:sldId id="292" r:id="rId13"/>
    <p:sldId id="276" r:id="rId14"/>
    <p:sldId id="277" r:id="rId15"/>
    <p:sldId id="262" r:id="rId16"/>
    <p:sldId id="263" r:id="rId17"/>
    <p:sldId id="278" r:id="rId18"/>
    <p:sldId id="279" r:id="rId19"/>
    <p:sldId id="280" r:id="rId20"/>
    <p:sldId id="266" r:id="rId21"/>
    <p:sldId id="260" r:id="rId22"/>
    <p:sldId id="282" r:id="rId23"/>
    <p:sldId id="283" r:id="rId24"/>
    <p:sldId id="287" r:id="rId25"/>
    <p:sldId id="288" r:id="rId26"/>
    <p:sldId id="286" r:id="rId27"/>
    <p:sldId id="289" r:id="rId28"/>
    <p:sldId id="284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0" autoAdjust="0"/>
    <p:restoredTop sz="93656" autoAdjust="0"/>
  </p:normalViewPr>
  <p:slideViewPr>
    <p:cSldViewPr>
      <p:cViewPr>
        <p:scale>
          <a:sx n="75" d="100"/>
          <a:sy n="75" d="100"/>
        </p:scale>
        <p:origin x="-2688" y="-8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-3318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EED056-341E-4F2F-8F55-3B75B42DCAD3}" type="datetimeFigureOut">
              <a:rPr lang="en-US" smtClean="0"/>
              <a:pPr/>
              <a:t>6/13/2014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02FD2-9919-43E2-A94C-DEFB211E07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833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AutoNum type="arabicPeriod"/>
            </a:pPr>
            <a:r>
              <a:rPr lang="en-US" dirty="0" smtClean="0"/>
              <a:t>Show</a:t>
            </a:r>
            <a:r>
              <a:rPr lang="en-US" baseline="0" dirty="0" smtClean="0"/>
              <a:t> them where to find templates</a:t>
            </a:r>
          </a:p>
          <a:p>
            <a:pPr marL="228600" indent="-228600">
              <a:buAutoNum type="arabicPeriod"/>
            </a:pPr>
            <a:r>
              <a:rPr lang="en-US" baseline="0" dirty="0" smtClean="0"/>
              <a:t>Explain the different terms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602FD2-9919-43E2-A94C-DEFB211E07B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Explain</a:t>
            </a:r>
            <a:r>
              <a:rPr lang="en-US" baseline="0" dirty="0" smtClean="0"/>
              <a:t> the life 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cycle of CR/INCS. Afterwards we have defects and incidents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happens when CR/INCS is cross or data. What documents are used?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602FD2-9919-43E2-A94C-DEFB211E07B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Show wher</a:t>
            </a:r>
            <a:r>
              <a:rPr lang="en-US" baseline="0" dirty="0" smtClean="0"/>
              <a:t>e document templates are kept</a:t>
            </a:r>
          </a:p>
          <a:p>
            <a:r>
              <a:rPr lang="en-US" baseline="0" dirty="0" smtClean="0"/>
              <a:t>Show examples of different DTD versions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602FD2-9919-43E2-A94C-DEFB211E07B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</a:t>
            </a:r>
            <a:r>
              <a:rPr lang="en-US" baseline="0" dirty="0" smtClean="0"/>
              <a:t> case CR is estimated for more than 1 man days, the field Effort Consumed must be updated on a daily basis with the current effort consumed so far.  </a:t>
            </a:r>
          </a:p>
          <a:p>
            <a:r>
              <a:rPr lang="en-US" baseline="0" dirty="0" smtClean="0"/>
              <a:t>HLFD , DD for ETL DEV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602FD2-9919-43E2-A94C-DEFB211E07B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 will be assigned to GDC</a:t>
            </a:r>
            <a:r>
              <a:rPr lang="en-US" baseline="0" dirty="0" smtClean="0"/>
              <a:t> after release completed successfully</a:t>
            </a:r>
          </a:p>
          <a:p>
            <a:r>
              <a:rPr lang="en-US" baseline="0" dirty="0" smtClean="0"/>
              <a:t>There are scenarios when the Effort consumed can be less than or greater than the Effort estimated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602FD2-9919-43E2-A94C-DEFB211E07B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602FD2-9919-43E2-A94C-DEFB211E07B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Explain each of</a:t>
            </a:r>
            <a:r>
              <a:rPr lang="en-US" baseline="0" dirty="0" smtClean="0"/>
              <a:t> this scenarios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602FD2-9919-43E2-A94C-DEFB211E07B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602FD2-9919-43E2-A94C-DEFB211E07B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602FD2-9919-43E2-A94C-DEFB211E07B3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Add NRA when more than one</a:t>
            </a:r>
            <a:r>
              <a:rPr lang="en-US" baseline="0" dirty="0" smtClean="0"/>
              <a:t> resource has worked on INC or CHG or Defects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602FD2-9919-43E2-A94C-DEFB211E07B3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2" name="Picture 216" descr="background front slide new"/>
          <p:cNvPicPr>
            <a:picLocks noChangeAspect="1" noChangeArrowheads="1"/>
          </p:cNvPicPr>
          <p:nvPr/>
        </p:nvPicPr>
        <p:blipFill>
          <a:blip r:embed="rId2" cstate="print"/>
          <a:srcRect t="90347"/>
          <a:stretch>
            <a:fillRect/>
          </a:stretch>
        </p:blipFill>
        <p:spPr bwMode="auto">
          <a:xfrm>
            <a:off x="6350" y="6240463"/>
            <a:ext cx="9151938" cy="644525"/>
          </a:xfrm>
          <a:prstGeom prst="rect">
            <a:avLst/>
          </a:prstGeom>
          <a:noFill/>
        </p:spPr>
      </p:pic>
      <p:sp>
        <p:nvSpPr>
          <p:cNvPr id="4313" name="Line 217"/>
          <p:cNvSpPr>
            <a:spLocks noChangeShapeType="1"/>
          </p:cNvSpPr>
          <p:nvPr/>
        </p:nvSpPr>
        <p:spPr bwMode="auto">
          <a:xfrm>
            <a:off x="0" y="2744788"/>
            <a:ext cx="9140825" cy="0"/>
          </a:xfrm>
          <a:prstGeom prst="line">
            <a:avLst/>
          </a:prstGeom>
          <a:noFill/>
          <a:ln w="57150">
            <a:solidFill>
              <a:srgbClr val="3399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4315" name="Picture 219" descr="JTI_TMELogo_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0" y="96838"/>
            <a:ext cx="3595688" cy="1304925"/>
          </a:xfrm>
          <a:prstGeom prst="rect">
            <a:avLst/>
          </a:prstGeom>
          <a:noFill/>
        </p:spPr>
      </p:pic>
      <p:pic>
        <p:nvPicPr>
          <p:cNvPr id="4316" name="Picture 220" descr="JTI Log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9663" y="96838"/>
            <a:ext cx="1385887" cy="1066800"/>
          </a:xfrm>
          <a:prstGeom prst="rect">
            <a:avLst/>
          </a:prstGeom>
          <a:noFill/>
        </p:spPr>
      </p:pic>
      <p:sp>
        <p:nvSpPr>
          <p:cNvPr id="410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328613" y="2973388"/>
            <a:ext cx="8636000" cy="1392237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28613" y="5013325"/>
            <a:ext cx="8636000" cy="9144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311" name="Rectangle 215"/>
          <p:cNvSpPr>
            <a:spLocks noChangeArrowheads="1"/>
          </p:cNvSpPr>
          <p:nvPr/>
        </p:nvSpPr>
        <p:spPr bwMode="auto">
          <a:xfrm>
            <a:off x="8001000" y="6613525"/>
            <a:ext cx="990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r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fld id="{7CD176A8-0C02-4D2F-BC14-1AB3249850A2}" type="slidenum">
              <a:rPr lang="fr-FR" sz="1000">
                <a:solidFill>
                  <a:schemeClr val="tx1"/>
                </a:solidFill>
              </a:rPr>
              <a:pPr algn="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t>‹#›</a:t>
            </a:fld>
            <a:endParaRPr lang="fr-FR" sz="1000">
              <a:solidFill>
                <a:schemeClr val="tx1"/>
              </a:solidFill>
            </a:endParaRPr>
          </a:p>
        </p:txBody>
      </p:sp>
      <p:sp>
        <p:nvSpPr>
          <p:cNvPr id="4317" name="Text Box 221"/>
          <p:cNvSpPr txBox="1">
            <a:spLocks noChangeArrowheads="1"/>
          </p:cNvSpPr>
          <p:nvPr/>
        </p:nvSpPr>
        <p:spPr bwMode="auto">
          <a:xfrm>
            <a:off x="835025" y="1976438"/>
            <a:ext cx="7421563" cy="5794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GB" sz="3200" b="1" i="1">
                <a:solidFill>
                  <a:srgbClr val="339933"/>
                </a:solidFill>
              </a:rPr>
              <a:t>Trade Marketing Excellence</a:t>
            </a:r>
            <a:r>
              <a:rPr lang="en-GB" sz="3200" b="1">
                <a:solidFill>
                  <a:srgbClr val="339933"/>
                </a:solidFill>
              </a:rPr>
              <a:t> Programme</a:t>
            </a:r>
            <a:endParaRPr lang="en-US" sz="3200" b="1">
              <a:solidFill>
                <a:srgbClr val="33993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175" y="995363"/>
            <a:ext cx="4351338" cy="5394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3913" y="995363"/>
            <a:ext cx="4352925" cy="5394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73863" y="44450"/>
            <a:ext cx="2212975" cy="63452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175" y="44450"/>
            <a:ext cx="6491288" cy="63452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1" name="Picture 229" descr="JTI_TMELogo_S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100013"/>
            <a:ext cx="1338263" cy="485775"/>
          </a:xfrm>
          <a:prstGeom prst="rect">
            <a:avLst/>
          </a:prstGeom>
          <a:noFill/>
        </p:spPr>
      </p:pic>
      <p:pic>
        <p:nvPicPr>
          <p:cNvPr id="3299" name="Picture 227" descr="background front slide new"/>
          <p:cNvPicPr>
            <a:picLocks noChangeAspect="1" noChangeArrowheads="1"/>
          </p:cNvPicPr>
          <p:nvPr/>
        </p:nvPicPr>
        <p:blipFill>
          <a:blip r:embed="rId14" cstate="print"/>
          <a:srcRect t="90347" b="3566"/>
          <a:stretch>
            <a:fillRect/>
          </a:stretch>
        </p:blipFill>
        <p:spPr bwMode="auto">
          <a:xfrm>
            <a:off x="6350" y="6469063"/>
            <a:ext cx="9151938" cy="406400"/>
          </a:xfrm>
          <a:prstGeom prst="rect">
            <a:avLst/>
          </a:prstGeom>
          <a:noFill/>
        </p:spPr>
      </p:pic>
      <p:sp>
        <p:nvSpPr>
          <p:cNvPr id="3300" name="Line 228"/>
          <p:cNvSpPr>
            <a:spLocks noChangeShapeType="1"/>
          </p:cNvSpPr>
          <p:nvPr/>
        </p:nvSpPr>
        <p:spPr bwMode="auto">
          <a:xfrm>
            <a:off x="0" y="858838"/>
            <a:ext cx="9140825" cy="0"/>
          </a:xfrm>
          <a:prstGeom prst="line">
            <a:avLst/>
          </a:prstGeom>
          <a:noFill/>
          <a:ln w="57150">
            <a:solidFill>
              <a:srgbClr val="3399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3302" name="Picture 230" descr="JTI Logo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440738" y="100013"/>
            <a:ext cx="604837" cy="465137"/>
          </a:xfrm>
          <a:prstGeom prst="rect">
            <a:avLst/>
          </a:prstGeom>
          <a:noFill/>
        </p:spPr>
      </p:pic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8001000" y="6613525"/>
            <a:ext cx="990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r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fld id="{FBE9A14A-BD85-4455-83D1-76944D583357}" type="slidenum">
              <a:rPr lang="fr-FR" sz="1000">
                <a:solidFill>
                  <a:schemeClr val="tx1"/>
                </a:solidFill>
              </a:rPr>
              <a:pPr algn="r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t>‹#›</a:t>
            </a:fld>
            <a:endParaRPr lang="fr-FR" sz="1000">
              <a:solidFill>
                <a:schemeClr val="tx1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90650" y="44450"/>
            <a:ext cx="69945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fr-FR" smtClean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0175" y="995363"/>
            <a:ext cx="8856663" cy="539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 smtClean="0"/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69850" y="6613525"/>
            <a:ext cx="47180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sz="1000">
                <a:solidFill>
                  <a:schemeClr val="tx1"/>
                </a:solidFill>
              </a:rPr>
              <a:t>TME-UNI-Module : OP&amp;E Tools – Operational Planning</a:t>
            </a:r>
          </a:p>
        </p:txBody>
      </p:sp>
      <p:sp>
        <p:nvSpPr>
          <p:cNvPr id="3187" name="Line 115"/>
          <p:cNvSpPr>
            <a:spLocks noChangeShapeType="1"/>
          </p:cNvSpPr>
          <p:nvPr/>
        </p:nvSpPr>
        <p:spPr bwMode="auto">
          <a:xfrm>
            <a:off x="700088" y="381000"/>
            <a:ext cx="0" cy="1588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Book Antiqua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Book Antiqua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Book Antiqua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Book Antiqua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Book Antiqua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Book Antiqua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Book Antiqua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Book Antiqua" pitchFamily="18" charset="0"/>
        </a:defRPr>
      </a:lvl9pPr>
    </p:titleStyle>
    <p:bodyStyle>
      <a:lvl1pPr marL="355600" indent="-355600" algn="l" rtl="0" eaLnBrk="1" fontAlgn="base" hangingPunct="1">
        <a:spcBef>
          <a:spcPct val="20000"/>
        </a:spcBef>
        <a:spcAft>
          <a:spcPct val="0"/>
        </a:spcAft>
        <a:buClr>
          <a:srgbClr val="008000"/>
        </a:buClr>
        <a:buFont typeface="Wingdings" pitchFamily="2" charset="2"/>
        <a:buChar char="q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900113" indent="-365125" algn="l" rtl="0" eaLnBrk="1" fontAlgn="base" hangingPunct="1">
        <a:spcBef>
          <a:spcPct val="20000"/>
        </a:spcBef>
        <a:spcAft>
          <a:spcPct val="0"/>
        </a:spcAft>
        <a:buClr>
          <a:srgbClr val="008000"/>
        </a:buClr>
        <a:buFont typeface="Wingdings" pitchFamily="2" charset="2"/>
        <a:buChar char="u"/>
        <a:defRPr sz="1900">
          <a:solidFill>
            <a:schemeClr val="tx1"/>
          </a:solidFill>
          <a:latin typeface="+mn-lt"/>
        </a:defRPr>
      </a:lvl2pPr>
      <a:lvl3pPr marL="1433513" indent="-354013" algn="l" rtl="0" eaLnBrk="1" fontAlgn="base" hangingPunct="1">
        <a:spcBef>
          <a:spcPct val="20000"/>
        </a:spcBef>
        <a:spcAft>
          <a:spcPct val="0"/>
        </a:spcAft>
        <a:buClr>
          <a:srgbClr val="008000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3pPr>
      <a:lvl4pPr marL="1979613" indent="-366713" algn="l" rtl="0" eaLnBrk="1" fontAlgn="base" hangingPunct="1">
        <a:spcBef>
          <a:spcPct val="20000"/>
        </a:spcBef>
        <a:spcAft>
          <a:spcPct val="0"/>
        </a:spcAft>
        <a:buClr>
          <a:srgbClr val="008000"/>
        </a:buClr>
        <a:buChar char="–"/>
        <a:defRPr sz="1700">
          <a:solidFill>
            <a:schemeClr val="tx1"/>
          </a:solidFill>
          <a:latin typeface="+mn-lt"/>
        </a:defRPr>
      </a:lvl4pPr>
      <a:lvl5pPr marL="2606675" indent="-447675" algn="l" rtl="0" eaLnBrk="1" fontAlgn="base" hangingPunct="1">
        <a:spcBef>
          <a:spcPct val="20000"/>
        </a:spcBef>
        <a:spcAft>
          <a:spcPct val="0"/>
        </a:spcAft>
        <a:buClr>
          <a:srgbClr val="008000"/>
        </a:buClr>
        <a:buChar char="»"/>
        <a:defRPr sz="1600">
          <a:solidFill>
            <a:schemeClr val="tx1"/>
          </a:solidFill>
          <a:latin typeface="+mn-lt"/>
        </a:defRPr>
      </a:lvl5pPr>
      <a:lvl6pPr marL="3063875" indent="-447675" algn="l" rtl="0" eaLnBrk="1" fontAlgn="base" hangingPunct="1">
        <a:spcBef>
          <a:spcPct val="20000"/>
        </a:spcBef>
        <a:spcAft>
          <a:spcPct val="0"/>
        </a:spcAft>
        <a:buClr>
          <a:srgbClr val="008000"/>
        </a:buClr>
        <a:buChar char="»"/>
        <a:defRPr sz="1600">
          <a:solidFill>
            <a:schemeClr val="tx1"/>
          </a:solidFill>
          <a:latin typeface="+mn-lt"/>
        </a:defRPr>
      </a:lvl6pPr>
      <a:lvl7pPr marL="3521075" indent="-447675" algn="l" rtl="0" eaLnBrk="1" fontAlgn="base" hangingPunct="1">
        <a:spcBef>
          <a:spcPct val="20000"/>
        </a:spcBef>
        <a:spcAft>
          <a:spcPct val="0"/>
        </a:spcAft>
        <a:buClr>
          <a:srgbClr val="008000"/>
        </a:buClr>
        <a:buChar char="»"/>
        <a:defRPr sz="1600">
          <a:solidFill>
            <a:schemeClr val="tx1"/>
          </a:solidFill>
          <a:latin typeface="+mn-lt"/>
        </a:defRPr>
      </a:lvl7pPr>
      <a:lvl8pPr marL="3978275" indent="-447675" algn="l" rtl="0" eaLnBrk="1" fontAlgn="base" hangingPunct="1">
        <a:spcBef>
          <a:spcPct val="20000"/>
        </a:spcBef>
        <a:spcAft>
          <a:spcPct val="0"/>
        </a:spcAft>
        <a:buClr>
          <a:srgbClr val="008000"/>
        </a:buClr>
        <a:buChar char="»"/>
        <a:defRPr sz="1600">
          <a:solidFill>
            <a:schemeClr val="tx1"/>
          </a:solidFill>
          <a:latin typeface="+mn-lt"/>
        </a:defRPr>
      </a:lvl8pPr>
      <a:lvl9pPr marL="4435475" indent="-447675" algn="l" rtl="0" eaLnBrk="1" fontAlgn="base" hangingPunct="1">
        <a:spcBef>
          <a:spcPct val="20000"/>
        </a:spcBef>
        <a:spcAft>
          <a:spcPct val="0"/>
        </a:spcAft>
        <a:buClr>
          <a:srgbClr val="008000"/>
        </a:buClr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jvpn.jti.com/sites/TME/it/Release%20Deliverables/Forms/,DanaInfo=apps.jti.com,SSO=U+AllItems.aspx" TargetMode="External"/><Relationship Id="rId2" Type="http://schemas.openxmlformats.org/officeDocument/2006/relationships/hyperlink" Target="https://jti.service-now.com/navpage.do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US" sz="3600" b="1" dirty="0" smtClean="0"/>
          </a:p>
          <a:p>
            <a:pPr algn="ctr">
              <a:buNone/>
            </a:pPr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</a:rPr>
              <a:t>NOV RELEASE CYCLE</a:t>
            </a:r>
          </a:p>
          <a:p>
            <a:pPr algn="ctr">
              <a:buNone/>
            </a:pPr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</a:rPr>
              <a:t>2014</a:t>
            </a:r>
          </a:p>
          <a:p>
            <a:pPr algn="ctr">
              <a:buNone/>
            </a:pPr>
            <a:endParaRPr lang="en-US" sz="3600" b="1" dirty="0" smtClean="0">
              <a:solidFill>
                <a:srgbClr val="00B0F0"/>
              </a:solidFill>
            </a:endParaRPr>
          </a:p>
          <a:p>
            <a:pPr algn="ctr">
              <a:buNone/>
            </a:pPr>
            <a:r>
              <a:rPr lang="en-US" sz="3600" b="1" dirty="0" smtClean="0">
                <a:solidFill>
                  <a:srgbClr val="00B0F0"/>
                </a:solidFill>
              </a:rPr>
              <a:t>Change Request/Incidents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pPr>
              <a:buNone/>
            </a:pP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</a:rPr>
              <a:t>Some common Terms:</a:t>
            </a:r>
          </a:p>
          <a:p>
            <a:pPr marL="514350" indent="-514350">
              <a:buAutoNum type="arabicPeriod"/>
            </a:pPr>
            <a:r>
              <a:rPr lang="en-US" dirty="0" smtClean="0"/>
              <a:t>Scope Sheet</a:t>
            </a:r>
          </a:p>
          <a:p>
            <a:pPr marL="514350" indent="-514350">
              <a:buAutoNum type="arabicPeriod"/>
            </a:pPr>
            <a:r>
              <a:rPr lang="en-US" dirty="0" smtClean="0"/>
              <a:t>SharePoint</a:t>
            </a:r>
          </a:p>
          <a:p>
            <a:pPr marL="514350" indent="-514350">
              <a:buAutoNum type="arabicPeriod"/>
            </a:pPr>
            <a:r>
              <a:rPr lang="en-US" dirty="0" smtClean="0"/>
              <a:t>CR /INC - Data or Cross</a:t>
            </a:r>
          </a:p>
          <a:p>
            <a:pPr marL="514350" indent="-514350">
              <a:buAutoNum type="arabicPeriod"/>
            </a:pPr>
            <a:r>
              <a:rPr lang="en-US" dirty="0" smtClean="0"/>
              <a:t>Unit Test Script</a:t>
            </a:r>
          </a:p>
          <a:p>
            <a:pPr marL="514350" indent="-514350">
              <a:buAutoNum type="arabicPeriod"/>
            </a:pPr>
            <a:r>
              <a:rPr lang="en-US" dirty="0" smtClean="0"/>
              <a:t>User/Integration Test Script</a:t>
            </a:r>
          </a:p>
          <a:p>
            <a:pPr marL="514350" indent="-514350">
              <a:buAutoNum type="arabicPeriod"/>
            </a:pPr>
            <a:r>
              <a:rPr lang="en-US" dirty="0" smtClean="0"/>
              <a:t>Data Issue Log (OLAP and OLTP)</a:t>
            </a:r>
          </a:p>
          <a:p>
            <a:pPr marL="514350" indent="-514350">
              <a:buAutoNum type="arabicPeriod"/>
            </a:pPr>
            <a:r>
              <a:rPr lang="en-US" dirty="0" smtClean="0"/>
              <a:t>SVN Update</a:t>
            </a:r>
          </a:p>
          <a:p>
            <a:pPr marL="514350" indent="-514350">
              <a:buAutoNum type="arabicPeriod"/>
            </a:pPr>
            <a:r>
              <a:rPr lang="en-US" dirty="0" smtClean="0"/>
              <a:t>Release Deliverables – HLFD, HLTD, DD</a:t>
            </a:r>
          </a:p>
          <a:p>
            <a:pPr marL="514350" indent="-514350">
              <a:buAutoNum type="arabicPeriod"/>
            </a:pPr>
            <a:r>
              <a:rPr lang="en-US" dirty="0" smtClean="0"/>
              <a:t>Links for: SharePoint,  JTI Deliverables, Incidents, Defects, DTD</a:t>
            </a:r>
          </a:p>
          <a:p>
            <a:pPr marL="514350" indent="-514350">
              <a:buAutoNum type="arabicPeriod"/>
            </a:pPr>
            <a:r>
              <a:rPr lang="en-US" dirty="0" smtClean="0"/>
              <a:t>Service Now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81000"/>
            <a:ext cx="8229600" cy="5867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Change Request/Incidents Life Cycle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As described below, the following stages must be adhered when working on</a:t>
            </a:r>
          </a:p>
          <a:p>
            <a:pPr>
              <a:buNone/>
            </a:pPr>
            <a:r>
              <a:rPr lang="en-US" dirty="0" smtClean="0"/>
              <a:t>change requests and incidents. The stages are:</a:t>
            </a:r>
          </a:p>
          <a:p>
            <a:pPr marL="514350" indent="-514350">
              <a:buAutoNum type="arabicPeriod"/>
            </a:pPr>
            <a:r>
              <a:rPr lang="en-US" dirty="0" smtClean="0"/>
              <a:t>Analysis (MRU Side)</a:t>
            </a:r>
          </a:p>
          <a:p>
            <a:pPr marL="514350" indent="-514350">
              <a:buAutoNum type="arabicPeriod"/>
            </a:pPr>
            <a:r>
              <a:rPr lang="en-US" dirty="0" smtClean="0"/>
              <a:t>Business Approval (GDC Side)</a:t>
            </a:r>
          </a:p>
          <a:p>
            <a:pPr marL="514350" indent="-514350">
              <a:buAutoNum type="arabicPeriod"/>
            </a:pPr>
            <a:r>
              <a:rPr lang="en-US" dirty="0" smtClean="0"/>
              <a:t>Development &amp; Testing (MRU Side)</a:t>
            </a:r>
          </a:p>
          <a:p>
            <a:pPr marL="514350" indent="-514350">
              <a:buAutoNum type="arabicPeriod"/>
            </a:pPr>
            <a:r>
              <a:rPr lang="en-US" dirty="0" smtClean="0"/>
              <a:t>Review Process (MRU Side)</a:t>
            </a:r>
          </a:p>
          <a:p>
            <a:pPr marL="514350" indent="-514350">
              <a:buAutoNum type="arabicPeriod"/>
            </a:pPr>
            <a:r>
              <a:rPr lang="en-US" dirty="0" smtClean="0"/>
              <a:t>Ready in DEV 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r>
              <a:rPr lang="en-US" b="1" dirty="0" smtClean="0"/>
              <a:t>Note: </a:t>
            </a:r>
            <a:r>
              <a:rPr lang="en-US" dirty="0" smtClean="0"/>
              <a:t>We have two types of CR/Incidents:</a:t>
            </a:r>
          </a:p>
          <a:p>
            <a:pPr marL="514350" indent="-514350">
              <a:buAutoNum type="arabicPeriod"/>
            </a:pPr>
            <a:r>
              <a:rPr lang="en-US" dirty="0" smtClean="0"/>
              <a:t>Data : Only the data team is impacted</a:t>
            </a:r>
          </a:p>
          <a:p>
            <a:pPr marL="514350" indent="-514350">
              <a:buAutoNum type="arabicPeriod"/>
            </a:pPr>
            <a:r>
              <a:rPr lang="en-US" dirty="0" smtClean="0"/>
              <a:t>Cross: All 3 teams or 2 teams may be impacted (Sales, Data and OBIEE)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304800"/>
            <a:ext cx="8229600" cy="7921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Step 1: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54864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The analysis can be done at:</a:t>
            </a:r>
          </a:p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High level</a:t>
            </a:r>
          </a:p>
          <a:p>
            <a:pPr>
              <a:buNone/>
            </a:pPr>
            <a:r>
              <a:rPr lang="en-US" dirty="0" smtClean="0"/>
              <a:t>   A high level information on the changes that should be done as per FD (Functional details provided).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Detailed level</a:t>
            </a:r>
          </a:p>
          <a:p>
            <a:pPr>
              <a:buNone/>
            </a:pPr>
            <a:r>
              <a:rPr lang="en-US" dirty="0" smtClean="0"/>
              <a:t> All impacted mapping and detailed information on the changes that should be done</a:t>
            </a:r>
          </a:p>
          <a:p>
            <a:pPr>
              <a:buNone/>
            </a:pPr>
            <a:r>
              <a:rPr lang="en-US" dirty="0" smtClean="0"/>
              <a:t>are provided. All these details are provide in a DTD (Detailed Technical</a:t>
            </a:r>
          </a:p>
          <a:p>
            <a:pPr>
              <a:buNone/>
            </a:pPr>
            <a:r>
              <a:rPr lang="en-US" dirty="0" smtClean="0"/>
              <a:t>Design) which is sent to GDC for validation and approval.</a:t>
            </a:r>
          </a:p>
          <a:p>
            <a:pPr>
              <a:buNone/>
            </a:pPr>
            <a:r>
              <a:rPr lang="en-US" b="1" dirty="0" smtClean="0">
                <a:solidFill>
                  <a:srgbClr val="FF0000"/>
                </a:solidFill>
              </a:rPr>
              <a:t>Note:</a:t>
            </a:r>
          </a:p>
          <a:p>
            <a:pPr>
              <a:buNone/>
            </a:pPr>
            <a:r>
              <a:rPr lang="en-US" dirty="0" smtClean="0"/>
              <a:t>1.The DTD document is versioned. Each time a FD provided, we</a:t>
            </a:r>
          </a:p>
          <a:p>
            <a:pPr>
              <a:buNone/>
            </a:pPr>
            <a:r>
              <a:rPr lang="en-US" dirty="0" smtClean="0"/>
              <a:t>have to create a new version of the DTD and update SharePoint with a comment.</a:t>
            </a:r>
          </a:p>
          <a:p>
            <a:pPr>
              <a:buNone/>
            </a:pPr>
            <a:r>
              <a:rPr lang="en-US" dirty="0" smtClean="0"/>
              <a:t>2. We have to provide the effort estimated to implement CR. Normally the approximate</a:t>
            </a:r>
          </a:p>
          <a:p>
            <a:pPr>
              <a:buNone/>
            </a:pPr>
            <a:r>
              <a:rPr lang="en-US" dirty="0" smtClean="0"/>
              <a:t>Man days are:</a:t>
            </a:r>
          </a:p>
          <a:p>
            <a:pPr>
              <a:buNone/>
            </a:pPr>
            <a:r>
              <a:rPr lang="en-US" b="1" dirty="0" smtClean="0"/>
              <a:t>Examples: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1 ETL: 0.65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1 Loader: 0.85</a:t>
            </a:r>
          </a:p>
          <a:p>
            <a:pPr>
              <a:buNone/>
            </a:pPr>
            <a:r>
              <a:rPr lang="en-US" dirty="0" smtClean="0"/>
              <a:t>3</a:t>
            </a:r>
            <a:r>
              <a:rPr lang="en-US" sz="3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600" dirty="0" err="1" smtClean="0">
                <a:solidFill>
                  <a:srgbClr val="0070C0"/>
                </a:solidFill>
              </a:rPr>
              <a:t>Sharepoint</a:t>
            </a:r>
            <a:r>
              <a:rPr lang="en-US" sz="3300" dirty="0" smtClean="0">
                <a:solidFill>
                  <a:srgbClr val="0070C0"/>
                </a:solidFill>
              </a:rPr>
              <a:t> </a:t>
            </a:r>
            <a:r>
              <a:rPr lang="en-US" sz="2600" dirty="0" smtClean="0">
                <a:solidFill>
                  <a:srgbClr val="0070C0"/>
                </a:solidFill>
              </a:rPr>
              <a:t>Update: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solidFill>
                  <a:srgbClr val="010000"/>
                </a:solidFill>
              </a:rPr>
              <a:t>Data Development Status = Estimates Ready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solidFill>
                  <a:srgbClr val="010000"/>
                </a:solidFill>
              </a:rPr>
              <a:t>Effort Estimated  = Total Effort Estimated as per DTD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solidFill>
                  <a:srgbClr val="010000"/>
                </a:solidFill>
              </a:rPr>
              <a:t>Data Assigned Person = GDC Siebel (Enrique, Miguel or Jaime)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solidFill>
                  <a:srgbClr val="010000"/>
                </a:solidFill>
              </a:rPr>
              <a:t>Upload Release Deliverable documents impacted for validation</a:t>
            </a:r>
          </a:p>
          <a:p>
            <a:pPr lvl="1">
              <a:buFont typeface="Wingdings" pitchFamily="2" charset="2"/>
              <a:buChar char="Ø"/>
            </a:pPr>
            <a:endParaRPr lang="en-US" dirty="0" smtClean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Once we have estimated the effort with the DTD, we assign change request </a:t>
            </a:r>
          </a:p>
          <a:p>
            <a:pPr>
              <a:buNone/>
            </a:pPr>
            <a:r>
              <a:rPr lang="en-US" dirty="0" smtClean="0"/>
              <a:t>or incident to GDC to validate. During this process, we may have to re-adjust </a:t>
            </a:r>
          </a:p>
          <a:p>
            <a:pPr>
              <a:buNone/>
            </a:pPr>
            <a:r>
              <a:rPr lang="en-US" dirty="0" smtClean="0"/>
              <a:t>DTD and effort estimated based on feedback from GDC.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Some Scenarios are:</a:t>
            </a:r>
          </a:p>
          <a:p>
            <a:pPr marL="457200" indent="-457200">
              <a:buAutoNum type="arabicPeriod"/>
            </a:pPr>
            <a:r>
              <a:rPr lang="en-US" dirty="0" smtClean="0"/>
              <a:t>GDC does not approve total effort estimated (over-estimated)</a:t>
            </a:r>
          </a:p>
          <a:p>
            <a:pPr marL="457200" indent="-457200">
              <a:buAutoNum type="arabicPeriod"/>
            </a:pPr>
            <a:r>
              <a:rPr lang="en-US" dirty="0" smtClean="0"/>
              <a:t>Some new requirements due to change in FD</a:t>
            </a:r>
          </a:p>
          <a:p>
            <a:pPr marL="457200" indent="-457200">
              <a:buAutoNum type="arabicPeriod"/>
            </a:pPr>
            <a:r>
              <a:rPr lang="en-US" dirty="0" smtClean="0"/>
              <a:t>Some unforeseen requirement  linked to other CR</a:t>
            </a:r>
          </a:p>
          <a:p>
            <a:pPr marL="457200" indent="-457200">
              <a:buNone/>
            </a:pPr>
            <a:endParaRPr lang="en-US" dirty="0" smtClean="0"/>
          </a:p>
          <a:p>
            <a:pPr marL="457200" indent="-457200">
              <a:buNone/>
            </a:pPr>
            <a:r>
              <a:rPr lang="en-US" dirty="0" smtClean="0"/>
              <a:t>Finally, when GDC approves DTD provided for CR or Incident, it is assigned </a:t>
            </a:r>
          </a:p>
          <a:p>
            <a:pPr marL="457200" indent="-457200">
              <a:buNone/>
            </a:pPr>
            <a:r>
              <a:rPr lang="en-US" dirty="0" smtClean="0"/>
              <a:t>back to MRU. In addition, during analysis phase we may request for additional</a:t>
            </a:r>
          </a:p>
          <a:p>
            <a:pPr marL="457200" indent="-457200">
              <a:buNone/>
            </a:pPr>
            <a:r>
              <a:rPr lang="en-US" dirty="0" smtClean="0"/>
              <a:t>information from GDC if FD is unclear and when we assigned CR to GDC, we set</a:t>
            </a:r>
          </a:p>
          <a:p>
            <a:pPr marL="457200" indent="-457200">
              <a:buNone/>
            </a:pPr>
            <a:r>
              <a:rPr lang="en-US" dirty="0" smtClean="0"/>
              <a:t>status to “</a:t>
            </a:r>
            <a:r>
              <a:rPr lang="en-US" dirty="0" smtClean="0">
                <a:solidFill>
                  <a:schemeClr val="accent5">
                    <a:lumMod val="50000"/>
                  </a:schemeClr>
                </a:solidFill>
              </a:rPr>
              <a:t>More Information Needed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381000" y="381000"/>
            <a:ext cx="8229600" cy="71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           Step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2: </a:t>
            </a: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Business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Approval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219200" y="381000"/>
            <a:ext cx="8229600" cy="71596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Step 3: </a:t>
            </a:r>
            <a:r>
              <a:rPr lang="en-US" sz="2800" kern="1200" dirty="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Development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Phase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86800" cy="5562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Change Request assigned back to MRU in development phase:</a:t>
            </a:r>
          </a:p>
          <a:p>
            <a:pPr>
              <a:buNone/>
            </a:pPr>
            <a:r>
              <a:rPr lang="en-US" dirty="0" smtClean="0"/>
              <a:t>When starting the development, the developer must update SharePoint: </a:t>
            </a:r>
            <a:r>
              <a:rPr lang="en-US" sz="3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solidFill>
                  <a:srgbClr val="0070C0"/>
                </a:solidFill>
              </a:rPr>
              <a:t>Data Development Status = In Progress</a:t>
            </a:r>
          </a:p>
          <a:p>
            <a:pPr marL="876300" lvl="2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smtClean="0">
                <a:solidFill>
                  <a:srgbClr val="0070C0"/>
                </a:solidFill>
              </a:rPr>
              <a:t>Effort Burnt should be updated at the end of each day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Secondly, the approved DTD must be used and there are specific guidelines that </a:t>
            </a:r>
          </a:p>
          <a:p>
            <a:pPr>
              <a:buNone/>
            </a:pPr>
            <a:r>
              <a:rPr lang="en-US" dirty="0" smtClean="0"/>
              <a:t>should be followed as per guideline document:</a:t>
            </a:r>
          </a:p>
          <a:p>
            <a:pPr lvl="1">
              <a:buNone/>
            </a:pPr>
            <a:r>
              <a:rPr lang="en-US" dirty="0"/>
              <a:t>https://10.186.26.15/svn/svn_repos/Phase II/General/03 - Documents/05 - Data Team Standard Procedures/TME Phase 2 - Data Development Guidelines </a:t>
            </a:r>
            <a:r>
              <a:rPr lang="en-US" dirty="0" smtClean="0"/>
              <a:t>v1.6.pdf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Finally</a:t>
            </a:r>
            <a:r>
              <a:rPr lang="en-US" dirty="0" smtClean="0"/>
              <a:t>, the developer must ensure that:</a:t>
            </a:r>
          </a:p>
          <a:p>
            <a:pPr marL="514350" indent="-514350">
              <a:buAutoNum type="arabicPeriod"/>
            </a:pPr>
            <a:r>
              <a:rPr lang="en-US" dirty="0" smtClean="0"/>
              <a:t>A folder for the CR/INC is available release folder as follows:</a:t>
            </a:r>
          </a:p>
          <a:p>
            <a:pPr marL="514350" indent="-514350">
              <a:buAutoNum type="arabicPeriod"/>
            </a:pPr>
            <a:r>
              <a:rPr lang="en-US" dirty="0" smtClean="0"/>
              <a:t>Place the unit test script in the “03-Build Folder” inside the impacted change request/Incident</a:t>
            </a:r>
          </a:p>
          <a:p>
            <a:pPr marL="514350" indent="-514350">
              <a:buAutoNum type="arabicPeriod"/>
            </a:pPr>
            <a:r>
              <a:rPr lang="en-US" dirty="0" smtClean="0"/>
              <a:t>Commit the stored procedures on SVN, IFB files or any associated documents. (refer to guidelines for convention used)</a:t>
            </a:r>
          </a:p>
          <a:p>
            <a:pPr marL="514350" indent="-514350">
              <a:buAutoNum type="arabicPeriod"/>
            </a:pPr>
            <a:r>
              <a:rPr lang="en-US" dirty="0" smtClean="0"/>
              <a:t>Data Issue log should be updated</a:t>
            </a:r>
          </a:p>
          <a:p>
            <a:pPr marL="514350" indent="-514350">
              <a:buAutoNum type="arabicPeriod"/>
            </a:pPr>
            <a:r>
              <a:rPr lang="en-US" dirty="0" smtClean="0"/>
              <a:t>Data Impacted Objects should be updated</a:t>
            </a:r>
          </a:p>
          <a:p>
            <a:pPr marL="514350" indent="-514350">
              <a:buAutoNum type="arabicPeriod"/>
            </a:pPr>
            <a:r>
              <a:rPr lang="en-US" dirty="0" smtClean="0"/>
              <a:t>Data Update Template or Post Task should be prepared</a:t>
            </a:r>
          </a:p>
          <a:p>
            <a:pPr marL="0" indent="0">
              <a:buNone/>
            </a:pPr>
            <a:endParaRPr lang="en-US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accent5">
                    <a:lumMod val="50000"/>
                  </a:schemeClr>
                </a:solidFill>
              </a:rPr>
              <a:t>7. </a:t>
            </a:r>
            <a:r>
              <a:rPr lang="en-US" dirty="0" smtClean="0"/>
              <a:t>SharePoint </a:t>
            </a:r>
            <a:r>
              <a:rPr lang="en-US" dirty="0"/>
              <a:t>Update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solidFill>
                  <a:srgbClr val="010000"/>
                </a:solidFill>
              </a:rPr>
              <a:t>Data </a:t>
            </a:r>
            <a:r>
              <a:rPr lang="en-US" dirty="0">
                <a:solidFill>
                  <a:srgbClr val="010000"/>
                </a:solidFill>
              </a:rPr>
              <a:t>Development Status = Pending for Peer Review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solidFill>
                  <a:srgbClr val="010000"/>
                </a:solidFill>
              </a:rPr>
              <a:t>Effort Consumed  = Total Effort Consumed by </a:t>
            </a:r>
            <a:r>
              <a:rPr lang="en-US" dirty="0" smtClean="0">
                <a:solidFill>
                  <a:srgbClr val="010000"/>
                </a:solidFill>
              </a:rPr>
              <a:t>developer (DEV + Testing</a:t>
            </a:r>
            <a:r>
              <a:rPr lang="en-US" dirty="0" smtClean="0">
                <a:solidFill>
                  <a:srgbClr val="010000"/>
                </a:solidFill>
              </a:rPr>
              <a:t>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Status = Completed </a:t>
            </a:r>
            <a:r>
              <a:rPr lang="en-US" dirty="0" smtClean="0">
                <a:solidFill>
                  <a:srgbClr val="010000"/>
                </a:solidFill>
              </a:rPr>
              <a:t>(Once DEV has completed by all teams impacted)</a:t>
            </a:r>
            <a:endParaRPr lang="en-US" dirty="0" smtClean="0">
              <a:solidFill>
                <a:srgbClr val="010000"/>
              </a:solidFill>
            </a:endParaRPr>
          </a:p>
          <a:p>
            <a:r>
              <a:rPr lang="en-US" u="sng" dirty="0" smtClean="0"/>
              <a:t>Testing </a:t>
            </a:r>
            <a:r>
              <a:rPr lang="en-US" u="sng" dirty="0" smtClean="0"/>
              <a:t>Useful Tips: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Steps should be detailed during testing so that the peer review can repeat the same steps (except in cases where creation of test data is time-consuming)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Testing should be done in ETL and separately in ad-hoc folder (custom or EIM_INTERFACE) to ensure that the changes have been applied correctly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 For CRs not impacting sales team but we have to create test data on sales application, kindly check with a member from sales team so as to avoid any test script issue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Screenshot must be always be provided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OBIEE screenshot and XML must be provided when CR/INC does not impact OBIEE team – </a:t>
            </a:r>
            <a:r>
              <a:rPr lang="en-US" dirty="0" err="1" smtClean="0"/>
              <a:t>Nb</a:t>
            </a:r>
            <a:r>
              <a:rPr lang="en-US" dirty="0" smtClean="0"/>
              <a:t>: XML should be inserted as an object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Ensure that the checklist mentioned in the Test Script “Version Control”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3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76400" y="304800"/>
            <a:ext cx="8229600" cy="71596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Step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4: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PEER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REVIEW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PROCESS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52578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2300" dirty="0" smtClean="0"/>
              <a:t>After a CR/INC status passes to “</a:t>
            </a:r>
            <a:r>
              <a:rPr lang="en-US" sz="2300" dirty="0" smtClean="0">
                <a:solidFill>
                  <a:srgbClr val="00B050"/>
                </a:solidFill>
              </a:rPr>
              <a:t>Pending for Peer Review</a:t>
            </a:r>
            <a:r>
              <a:rPr lang="en-US" sz="2300" dirty="0" smtClean="0"/>
              <a:t>”, another person will be</a:t>
            </a:r>
          </a:p>
          <a:p>
            <a:pPr>
              <a:buNone/>
            </a:pPr>
            <a:r>
              <a:rPr lang="en-US" sz="2300" dirty="0" smtClean="0"/>
              <a:t>assigned to test the development done. The tester will use the unit test scrip that the</a:t>
            </a:r>
          </a:p>
          <a:p>
            <a:pPr>
              <a:buNone/>
            </a:pPr>
            <a:r>
              <a:rPr lang="en-US" sz="2300" dirty="0" smtClean="0"/>
              <a:t>developer has made and review the development.</a:t>
            </a:r>
          </a:p>
          <a:p>
            <a:pPr>
              <a:buNone/>
            </a:pPr>
            <a:endParaRPr lang="en-US" sz="2300" b="1" dirty="0" smtClean="0"/>
          </a:p>
          <a:p>
            <a:pPr>
              <a:buNone/>
            </a:pPr>
            <a:r>
              <a:rPr lang="en-US" sz="2300" b="1" dirty="0" smtClean="0"/>
              <a:t>Note: </a:t>
            </a:r>
            <a:r>
              <a:rPr lang="en-US" sz="2300" dirty="0" smtClean="0"/>
              <a:t>The user test script must be detailed with all the steps, </a:t>
            </a:r>
            <a:r>
              <a:rPr lang="en-US" sz="2300" dirty="0" err="1" smtClean="0"/>
              <a:t>sql</a:t>
            </a:r>
            <a:r>
              <a:rPr lang="en-US" sz="2300" dirty="0" smtClean="0"/>
              <a:t> query, OBIEE Xml and</a:t>
            </a:r>
          </a:p>
          <a:p>
            <a:pPr>
              <a:buNone/>
            </a:pPr>
            <a:r>
              <a:rPr lang="en-US" sz="2300" dirty="0" smtClean="0"/>
              <a:t>any other steps that were used during testing. You must assume that a novice</a:t>
            </a:r>
          </a:p>
          <a:p>
            <a:pPr>
              <a:buNone/>
            </a:pPr>
            <a:r>
              <a:rPr lang="en-US" sz="2300" dirty="0" smtClean="0"/>
              <a:t>is doing the testing and is following the steps that you have detailed and not to </a:t>
            </a:r>
          </a:p>
          <a:p>
            <a:pPr>
              <a:buNone/>
            </a:pPr>
            <a:r>
              <a:rPr lang="en-US" sz="2300" dirty="0" smtClean="0"/>
              <a:t>forget the screenshots.</a:t>
            </a:r>
          </a:p>
          <a:p>
            <a:pPr>
              <a:buNone/>
            </a:pPr>
            <a:r>
              <a:rPr lang="en-US" sz="2300" dirty="0" smtClean="0"/>
              <a:t>At this point we have 2 scenario:</a:t>
            </a:r>
          </a:p>
          <a:p>
            <a:pPr marL="914400" lvl="1" indent="-514350">
              <a:buAutoNum type="arabicPeriod"/>
            </a:pPr>
            <a:r>
              <a:rPr lang="en-US" sz="2300" dirty="0" smtClean="0"/>
              <a:t>Review of test script successful</a:t>
            </a:r>
          </a:p>
          <a:p>
            <a:pPr marL="914400" lvl="1" indent="-514350">
              <a:buAutoNum type="arabicPeriod"/>
            </a:pPr>
            <a:r>
              <a:rPr lang="en-US" sz="2300" dirty="0" smtClean="0"/>
              <a:t>Review failed</a:t>
            </a:r>
          </a:p>
          <a:p>
            <a:pPr marL="914400" lvl="1" indent="-514350">
              <a:buAutoNum type="arabicPeriod"/>
            </a:pP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In case of Scenario 2, the reviewer will inform the developer that the review has failed and the developer </a:t>
            </a:r>
          </a:p>
          <a:p>
            <a:pPr marL="514350" indent="-514350">
              <a:buNone/>
            </a:pPr>
            <a:r>
              <a:rPr lang="en-US" dirty="0" smtClean="0"/>
              <a:t>has to perform the corrections and inform the reviewer when its ready for to be reviewed again.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Upon successful review, the tester has to: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Produce a user test script or integration test script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Place the test script in folder test script to validate to be picked by Philippe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 err="1" smtClean="0">
                <a:solidFill>
                  <a:srgbClr val="0070C0"/>
                </a:solidFill>
              </a:rPr>
              <a:t>Sharepoint</a:t>
            </a:r>
            <a:r>
              <a:rPr lang="en-US" dirty="0" smtClean="0">
                <a:solidFill>
                  <a:srgbClr val="0070C0"/>
                </a:solidFill>
              </a:rPr>
              <a:t> Update: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Data Development Status = Ready in DEV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Effort Consumed  = Total Effort Estimated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Data Assigned Person = Usmani, Gulraaz</a:t>
            </a:r>
          </a:p>
          <a:p>
            <a:pPr marL="514350" indent="-514350">
              <a:buNone/>
            </a:pPr>
            <a:endParaRPr lang="en-US" sz="33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Useful Tips for Reviewer: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Checklist:</a:t>
            </a:r>
          </a:p>
          <a:p>
            <a:pPr marL="457200" indent="-457200">
              <a:buAutoNum type="arabicPeriod"/>
            </a:pPr>
            <a:r>
              <a:rPr lang="en-US" dirty="0" smtClean="0"/>
              <a:t>FD Document – Understand the requirements and most importantly the test case scenario mentioned. Important to test according to scenarios provided except other scenarios has been commented on SharePoint</a:t>
            </a:r>
          </a:p>
          <a:p>
            <a:pPr marL="457200" indent="-457200">
              <a:buAutoNum type="arabicPeriod"/>
            </a:pPr>
            <a:r>
              <a:rPr lang="en-US" dirty="0" smtClean="0"/>
              <a:t>DTD – Check the design solutions so as to better understand the implementation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 smtClean="0"/>
              <a:t>Data Impacted Object – validate development done has been documented</a:t>
            </a:r>
          </a:p>
          <a:p>
            <a:pPr marL="457200" indent="-457200">
              <a:buAutoNum type="arabicPeriod"/>
            </a:pPr>
            <a:r>
              <a:rPr lang="en-US" dirty="0" smtClean="0"/>
              <a:t>Data Issue Log – verify if scripts have been logged correctly</a:t>
            </a:r>
          </a:p>
          <a:p>
            <a:pPr marL="457200" indent="-457200">
              <a:buAutoNum type="arabicPeriod"/>
            </a:pPr>
            <a:r>
              <a:rPr lang="en-US" dirty="0" smtClean="0"/>
              <a:t>Perform testing using the test script </a:t>
            </a:r>
          </a:p>
          <a:p>
            <a:pPr marL="457200" indent="-457200">
              <a:buAutoNum type="arabicPeriod"/>
            </a:pPr>
            <a:r>
              <a:rPr lang="en-US" dirty="0" smtClean="0"/>
              <a:t>Prepare User test script</a:t>
            </a:r>
          </a:p>
          <a:p>
            <a:pPr marL="457200" indent="-457200">
              <a:buAutoNum type="arabicPeriod"/>
            </a:pPr>
            <a:r>
              <a:rPr lang="en-US" dirty="0" smtClean="0"/>
              <a:t>Validate if data update template has been provided or post task list updated with details of post task</a:t>
            </a:r>
          </a:p>
          <a:p>
            <a:pPr marL="457200" indent="-457200"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428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5. </a:t>
            </a:r>
            <a:r>
              <a:rPr lang="en-US" sz="2700" dirty="0" smtClean="0">
                <a:solidFill>
                  <a:schemeClr val="accent1">
                    <a:lumMod val="50000"/>
                  </a:schemeClr>
                </a:solidFill>
              </a:rPr>
              <a:t>READY IN DEV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When the review has passed, the total effort consumed (should be</a:t>
            </a:r>
          </a:p>
          <a:p>
            <a:pPr>
              <a:buNone/>
            </a:pPr>
            <a:r>
              <a:rPr lang="en-US" dirty="0" smtClean="0"/>
              <a:t>equal to effort estimated in analysis phase) is updated and the status of</a:t>
            </a:r>
          </a:p>
          <a:p>
            <a:pPr>
              <a:buNone/>
            </a:pPr>
            <a:r>
              <a:rPr lang="en-US" dirty="0" smtClean="0"/>
              <a:t>the CR/ INC changes to </a:t>
            </a:r>
            <a:r>
              <a:rPr lang="en-US" dirty="0" smtClean="0">
                <a:solidFill>
                  <a:srgbClr val="00B050"/>
                </a:solidFill>
              </a:rPr>
              <a:t>READY IN DEV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There are some exceptions where: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Effort consumed &lt; Effort Estimated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/>
              <a:t>Effort Consumed &gt;</a:t>
            </a:r>
            <a:r>
              <a:rPr lang="en-US" dirty="0"/>
              <a:t>Effort Estimated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 each of these scenarios, SharePoint must be updated so that we can track the history of the change request.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Finally after the planned release, the CR is assigned to GDC. 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2400" dirty="0" smtClean="0">
                <a:solidFill>
                  <a:srgbClr val="0070C0"/>
                </a:solidFill>
              </a:rPr>
              <a:t>WHAT HAPPENS NEXT?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8229600" cy="868362"/>
          </a:xfrm>
        </p:spPr>
        <p:txBody>
          <a:bodyPr/>
          <a:lstStyle/>
          <a:p>
            <a:r>
              <a:rPr lang="en-US" sz="4000" dirty="0" smtClean="0">
                <a:solidFill>
                  <a:schemeClr val="accent1">
                    <a:lumMod val="50000"/>
                  </a:schemeClr>
                </a:solidFill>
              </a:rPr>
              <a:t>DEFECTS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4953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Now after successful release and testing, market will start testing and create</a:t>
            </a:r>
          </a:p>
          <a:p>
            <a:pPr>
              <a:buNone/>
            </a:pPr>
            <a:r>
              <a:rPr lang="en-US" dirty="0" smtClean="0"/>
              <a:t>defects depending on the issues encountered during testing. Some of the defects </a:t>
            </a:r>
          </a:p>
          <a:p>
            <a:pPr>
              <a:buNone/>
            </a:pPr>
            <a:r>
              <a:rPr lang="en-US" dirty="0" smtClean="0"/>
              <a:t>category are:</a:t>
            </a:r>
          </a:p>
          <a:p>
            <a:pPr>
              <a:buNone/>
            </a:pP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New Requirements (Unforeseen ,Admin, Functional, Interface)</a:t>
            </a:r>
          </a:p>
          <a:p>
            <a:pPr marL="514350" indent="-514350">
              <a:buAutoNum type="arabicPeriod"/>
            </a:pPr>
            <a:r>
              <a:rPr lang="en-US" dirty="0" smtClean="0"/>
              <a:t>Admin Issue</a:t>
            </a:r>
          </a:p>
          <a:p>
            <a:pPr marL="514350" indent="-514350">
              <a:buAutoNum type="arabicPeriod"/>
            </a:pPr>
            <a:r>
              <a:rPr lang="en-US" dirty="0" smtClean="0"/>
              <a:t>User Test Script</a:t>
            </a:r>
          </a:p>
          <a:p>
            <a:pPr marL="514350" indent="-514350">
              <a:buAutoNum type="arabicPeriod"/>
            </a:pPr>
            <a:r>
              <a:rPr lang="en-US" dirty="0" smtClean="0"/>
              <a:t>Bug</a:t>
            </a:r>
          </a:p>
          <a:p>
            <a:pPr marL="514350" indent="-514350">
              <a:buAutoNum type="arabicPeriod"/>
            </a:pPr>
            <a:r>
              <a:rPr lang="en-US" dirty="0" smtClean="0"/>
              <a:t>Users Action</a:t>
            </a:r>
          </a:p>
          <a:p>
            <a:pPr marL="514350" indent="-514350">
              <a:buAutoNum type="arabicPeriod"/>
            </a:pPr>
            <a:r>
              <a:rPr lang="en-US" dirty="0" smtClean="0"/>
              <a:t>RT &gt;&gt; Regression Testing</a:t>
            </a:r>
          </a:p>
          <a:p>
            <a:pPr marL="514350" indent="-514350">
              <a:buAutoNum type="arabicPeriod"/>
            </a:pP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In such cases, market will create a defects where appropriate investigations have</a:t>
            </a:r>
          </a:p>
          <a:p>
            <a:pPr marL="514350" indent="-514350">
              <a:buNone/>
            </a:pPr>
            <a:r>
              <a:rPr lang="en-US" dirty="0" smtClean="0"/>
              <a:t>to be done to investigate and fix issues accordingly.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When working on defects, its very important to update SharePoint:</a:t>
            </a:r>
          </a:p>
          <a:p>
            <a:pPr marL="514350" indent="-514350">
              <a:buAutoNum type="arabicPeriod"/>
            </a:pPr>
            <a:r>
              <a:rPr lang="en-US" dirty="0" smtClean="0"/>
              <a:t>Set status = In Progress when starting to work on defect</a:t>
            </a:r>
          </a:p>
          <a:p>
            <a:pPr marL="514350" indent="-514350">
              <a:buAutoNum type="arabicPeriod"/>
            </a:pPr>
            <a:r>
              <a:rPr lang="en-US" dirty="0" smtClean="0"/>
              <a:t>Tick the checkbox “Assigned to MRU”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Once root caused analyzed, change category, add update and assign back to GDC Siebel group for further actions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DEFECT RESOLUTION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defect that implies new development that will be targeted for next release, for Ex: UAT 1, once development has been done, a new test script will be created (where applicable and place in the same folder 03-Build)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The same process will be followed, that is:</a:t>
            </a:r>
          </a:p>
          <a:p>
            <a:pPr lvl="1"/>
            <a:r>
              <a:rPr lang="en-US" dirty="0"/>
              <a:t>Implementation – Testing  - Peer Review</a:t>
            </a:r>
          </a:p>
          <a:p>
            <a:pPr marL="534988" lvl="1" indent="0">
              <a:buNone/>
            </a:pPr>
            <a:endParaRPr lang="en-US" dirty="0" smtClean="0"/>
          </a:p>
          <a:p>
            <a:r>
              <a:rPr lang="en-US" dirty="0" smtClean="0"/>
              <a:t>If a new user test script is required,  then we have to go to the CHG impacted folder and make a copy of the test script that has been uploaded </a:t>
            </a:r>
            <a:r>
              <a:rPr lang="en-US" dirty="0"/>
              <a:t>in folder “04-SP Test </a:t>
            </a:r>
            <a:r>
              <a:rPr lang="en-US" dirty="0" smtClean="0"/>
              <a:t>Script”. Once we have copied the test script, we rename it to _V2 and also change Test Cycle 1 to Test Cycle 2. Once all these changes have been done, we then update the test steps accordingly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137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Where it is found?</a:t>
            </a:r>
          </a:p>
          <a:p>
            <a:pPr>
              <a:buNone/>
            </a:pPr>
            <a:r>
              <a:rPr lang="en-US" dirty="0" smtClean="0"/>
              <a:t>	J:\TME_JTI_PROJECT\1) General\4_RELEASE_MANAGEMENT</a:t>
            </a:r>
            <a:endParaRPr lang="en-US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dirty="0" smtClean="0"/>
          </a:p>
          <a:p>
            <a:pPr lvl="1"/>
            <a:r>
              <a:rPr lang="en-US" dirty="0"/>
              <a:t>J:\TME_JTI_PROJECT\1) General\4_RELEASE_MANAGEMENT\</a:t>
            </a:r>
            <a:r>
              <a:rPr lang="en-US" dirty="0" err="1"/>
              <a:t>A_Release</a:t>
            </a:r>
            <a:r>
              <a:rPr lang="en-US" dirty="0"/>
              <a:t> PROD Nov 2014\01_Management\Data Scope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sz="3700" b="1" kern="1200" dirty="0" smtClean="0">
              <a:solidFill>
                <a:schemeClr val="accent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438400" y="152400"/>
            <a:ext cx="3048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Scope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4000" b="1" dirty="0" smtClean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Sheet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6994525" cy="641350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2. Updating Scope Sheet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itle 4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pPr>
              <a:buNone/>
            </a:pPr>
            <a:r>
              <a:rPr lang="en-US" sz="2100" dirty="0" smtClean="0">
                <a:solidFill>
                  <a:srgbClr val="00B0F0"/>
                </a:solidFill>
              </a:rPr>
              <a:t>2. 1 What to update? </a:t>
            </a:r>
          </a:p>
          <a:p>
            <a:pPr>
              <a:buNone/>
            </a:pPr>
            <a:r>
              <a:rPr lang="en-US" sz="1800" dirty="0" smtClean="0"/>
              <a:t> The same scope sheet is used for changes requests, incidents, defects are all done</a:t>
            </a:r>
          </a:p>
          <a:p>
            <a:pPr>
              <a:buNone/>
            </a:pPr>
            <a:r>
              <a:rPr lang="en-US" sz="1800" dirty="0" smtClean="0"/>
              <a:t>in the same scope sheet by choosing the required tab.</a:t>
            </a:r>
          </a:p>
          <a:p>
            <a:pPr>
              <a:buNone/>
            </a:pPr>
            <a:r>
              <a:rPr lang="en-US" sz="36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/>
            </a:r>
            <a:br>
              <a:rPr lang="en-US" sz="36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981200"/>
            <a:ext cx="6181725" cy="3639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>
          <a:xfrm>
            <a:off x="1981200" y="5525869"/>
            <a:ext cx="22098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5400000">
            <a:off x="4762500" y="4838700"/>
            <a:ext cx="609600" cy="1905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124200" y="5486400"/>
            <a:ext cx="9906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6200000" flipH="1">
            <a:off x="3695700" y="5676900"/>
            <a:ext cx="7620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4191000" y="5486400"/>
            <a:ext cx="609600" cy="609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71800" y="5867400"/>
            <a:ext cx="289560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The different category items for the data stream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295400" y="5334000"/>
            <a:ext cx="11430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638800" y="5334000"/>
            <a:ext cx="11430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438400" y="5334000"/>
            <a:ext cx="11430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581400" y="5334000"/>
            <a:ext cx="914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495800" y="5334000"/>
            <a:ext cx="11430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543800" y="2667000"/>
            <a:ext cx="1219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Select  the required Tab that you want to update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487362"/>
          </a:xfrm>
        </p:spPr>
        <p:txBody>
          <a:bodyPr/>
          <a:lstStyle/>
          <a:p>
            <a:pPr algn="l"/>
            <a:r>
              <a:rPr lang="en-US" sz="2000" dirty="0" smtClean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2.2 Fields that should be updated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06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Important changes are tracked through scope sheet such as:</a:t>
            </a:r>
          </a:p>
          <a:p>
            <a:pPr marL="514350" indent="-514350">
              <a:buNone/>
            </a:pPr>
            <a:r>
              <a:rPr lang="en-US" dirty="0" smtClean="0"/>
              <a:t>1. Responsible Perform for each stage – Analysis, Development, Peer Review</a:t>
            </a:r>
          </a:p>
          <a:p>
            <a:pPr marL="514350" indent="-514350">
              <a:buNone/>
            </a:pPr>
            <a:r>
              <a:rPr lang="en-US" dirty="0" smtClean="0"/>
              <a:t>2. Technical Solution</a:t>
            </a:r>
            <a:endParaRPr lang="en-US" sz="2000" dirty="0" smtClean="0"/>
          </a:p>
          <a:p>
            <a:pPr marL="514350" indent="-514350">
              <a:buNone/>
            </a:pPr>
            <a:r>
              <a:rPr lang="en-US" dirty="0" smtClean="0"/>
              <a:t>3. MRU Target Release</a:t>
            </a:r>
          </a:p>
          <a:p>
            <a:pPr marL="514350" indent="-514350">
              <a:buNone/>
            </a:pPr>
            <a:r>
              <a:rPr lang="en-US" sz="2000" dirty="0" smtClean="0"/>
              <a:t>4. Technical Solution</a:t>
            </a:r>
          </a:p>
          <a:p>
            <a:pPr marL="514350" indent="-514350">
              <a:buNone/>
            </a:pPr>
            <a:r>
              <a:rPr lang="en-US" dirty="0" smtClean="0"/>
              <a:t>5. Impacted Functionality</a:t>
            </a:r>
          </a:p>
          <a:p>
            <a:pPr marL="514350" indent="-514350">
              <a:buNone/>
            </a:pPr>
            <a:r>
              <a:rPr lang="en-US" dirty="0" smtClean="0"/>
              <a:t>6. Data Update required</a:t>
            </a:r>
          </a:p>
          <a:p>
            <a:pPr marL="514350" indent="-514350">
              <a:buNone/>
            </a:pPr>
            <a:r>
              <a:rPr lang="en-US" dirty="0" smtClean="0">
                <a:solidFill>
                  <a:srgbClr val="FF0000"/>
                </a:solidFill>
              </a:rPr>
              <a:t>7. Complexity</a:t>
            </a:r>
          </a:p>
          <a:p>
            <a:pPr marL="514350" indent="-514350">
              <a:buNone/>
            </a:pPr>
            <a:r>
              <a:rPr lang="en-US" dirty="0" smtClean="0">
                <a:solidFill>
                  <a:srgbClr val="FF0000"/>
                </a:solidFill>
              </a:rPr>
              <a:t>8. Priority Data Update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r>
              <a:rPr lang="en-US" sz="2000" b="1" dirty="0" smtClean="0"/>
              <a:t>Note: </a:t>
            </a:r>
            <a:r>
              <a:rPr lang="en-US" sz="2000" dirty="0" smtClean="0"/>
              <a:t>Incidents are normally assigned to Riteswaree when assigned to MRU team with the group TME-DATA-INTERFACES  and change request to Gulraaz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Next, the important fields that MUST be filled are: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EPM Assigned Person: </a:t>
            </a:r>
            <a:r>
              <a:rPr lang="en-US" dirty="0" smtClean="0"/>
              <a:t>who has worked on the incident. 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Release Dependant </a:t>
            </a:r>
            <a:r>
              <a:rPr lang="en-US" dirty="0" smtClean="0"/>
              <a:t>: If fix required should is release dependant. </a:t>
            </a:r>
          </a:p>
          <a:p>
            <a:pPr>
              <a:buNone/>
            </a:pPr>
            <a:r>
              <a:rPr lang="en-US" dirty="0" smtClean="0"/>
              <a:t>Question: What do you understand by release dependant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Data Update Required</a:t>
            </a:r>
            <a:r>
              <a:rPr lang="en-US" dirty="0" smtClean="0"/>
              <a:t>: Y or N: Based on the fix to be done if any data update required as post task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Test Script Required: </a:t>
            </a:r>
            <a:r>
              <a:rPr lang="en-US" dirty="0" smtClean="0"/>
              <a:t>Y or N. Based on the fix done, a user test script must be provided.</a:t>
            </a:r>
          </a:p>
          <a:p>
            <a:pPr>
              <a:buNone/>
            </a:pPr>
            <a:r>
              <a:rPr lang="en-US" b="1" dirty="0" smtClean="0"/>
              <a:t>Note: </a:t>
            </a:r>
            <a:r>
              <a:rPr lang="en-US" dirty="0" smtClean="0"/>
              <a:t>Applicable for release dependant incidents 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Technical Solution </a:t>
            </a:r>
            <a:r>
              <a:rPr lang="en-US" dirty="0" smtClean="0"/>
              <a:t>in the format :</a:t>
            </a:r>
          </a:p>
          <a:p>
            <a:pPr>
              <a:buNone/>
            </a:pPr>
            <a:r>
              <a:rPr lang="en-US" dirty="0" smtClean="0"/>
              <a:t>[20120621:LK] Change mapping to transfer AB values from OLTP to OLAP (understandable description)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MRU STATUS </a:t>
            </a:r>
            <a:r>
              <a:rPr lang="en-US" dirty="0" smtClean="0"/>
              <a:t>in the format :</a:t>
            </a:r>
          </a:p>
          <a:p>
            <a:pPr>
              <a:buNone/>
            </a:pPr>
            <a:r>
              <a:rPr lang="en-US" dirty="0" smtClean="0"/>
              <a:t>[20120621:LK] DEV currently in progress in MRU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04800"/>
            <a:ext cx="3886200" cy="4572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Updating Scope Sheet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>
              <a:solidFill>
                <a:srgbClr val="0070C0"/>
              </a:solidFill>
            </a:endParaRPr>
          </a:p>
          <a:p>
            <a:r>
              <a:rPr lang="en-US" sz="2400" dirty="0" smtClean="0">
                <a:solidFill>
                  <a:srgbClr val="0070C0"/>
                </a:solidFill>
              </a:rPr>
              <a:t>Peer Review Name: </a:t>
            </a:r>
            <a:r>
              <a:rPr lang="en-US" dirty="0" smtClean="0"/>
              <a:t>Some fixes done and usually for release dependant incidents, </a:t>
            </a:r>
            <a:r>
              <a:rPr lang="en-US" sz="2400" dirty="0" smtClean="0">
                <a:solidFill>
                  <a:srgbClr val="0070C0"/>
                </a:solidFill>
              </a:rPr>
              <a:t>the</a:t>
            </a:r>
            <a:r>
              <a:rPr lang="en-US" dirty="0" smtClean="0"/>
              <a:t> DEV must be peer reviewed before assigned to GDC for testing.</a:t>
            </a:r>
          </a:p>
          <a:p>
            <a:pPr>
              <a:buNone/>
            </a:pPr>
            <a:endParaRPr lang="en-US" dirty="0" smtClean="0"/>
          </a:p>
          <a:p>
            <a:r>
              <a:rPr lang="en-US" sz="2400" dirty="0" smtClean="0">
                <a:solidFill>
                  <a:srgbClr val="0070C0"/>
                </a:solidFill>
              </a:rPr>
              <a:t>Review date: </a:t>
            </a:r>
            <a:r>
              <a:rPr lang="en-US" dirty="0" smtClean="0"/>
              <a:t>The date that the peer review was done.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Change Requests Impacted Fields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381000" y="1600200"/>
            <a:ext cx="7639050" cy="2142530"/>
            <a:chOff x="762000" y="1447800"/>
            <a:chExt cx="7639050" cy="214253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47800" y="1447800"/>
              <a:ext cx="6953250" cy="1057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6" name="Straight Arrow Connector 5"/>
            <p:cNvCxnSpPr/>
            <p:nvPr/>
          </p:nvCxnSpPr>
          <p:spPr>
            <a:xfrm rot="5400000">
              <a:off x="1447800" y="2438400"/>
              <a:ext cx="457200" cy="152400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3962400" y="2438400"/>
              <a:ext cx="457200" cy="152400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rot="16200000" flipH="1">
              <a:off x="5449094" y="2401094"/>
              <a:ext cx="381000" cy="150812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762000" y="2743200"/>
              <a:ext cx="1752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Name of person doing Analysis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429000" y="2743200"/>
              <a:ext cx="1752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Total man days estimated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57800" y="2667000"/>
              <a:ext cx="17526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Name of person doing development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57200" y="3886200"/>
            <a:ext cx="8229600" cy="2142530"/>
            <a:chOff x="457200" y="3657600"/>
            <a:chExt cx="8229600" cy="2142530"/>
          </a:xfrm>
        </p:grpSpPr>
        <p:sp>
          <p:nvSpPr>
            <p:cNvPr id="21" name="TextBox 20"/>
            <p:cNvSpPr txBox="1"/>
            <p:nvPr/>
          </p:nvSpPr>
          <p:spPr>
            <a:xfrm>
              <a:off x="2286000" y="4876800"/>
              <a:ext cx="16764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Name of person assigned for review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038600" y="4953000"/>
              <a:ext cx="1371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Date </a:t>
              </a:r>
            </a:p>
            <a:p>
              <a:r>
                <a:rPr lang="en-US" dirty="0" smtClean="0">
                  <a:solidFill>
                    <a:srgbClr val="00B050"/>
                  </a:solidFill>
                </a:rPr>
                <a:t>reviewed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rot="16200000" flipH="1">
              <a:off x="2819400" y="4572000"/>
              <a:ext cx="457200" cy="1524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rot="5400000">
              <a:off x="4306094" y="4685506"/>
              <a:ext cx="533400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5486400" y="4419600"/>
              <a:ext cx="457200" cy="381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5486400" y="4800600"/>
              <a:ext cx="32004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Description of current progress in the form:  [20120621:LK] DEV in progress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pic>
          <p:nvPicPr>
            <p:cNvPr id="27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95400" y="3657600"/>
              <a:ext cx="5562600" cy="847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8" name="Straight Arrow Connector 27"/>
            <p:cNvCxnSpPr/>
            <p:nvPr/>
          </p:nvCxnSpPr>
          <p:spPr>
            <a:xfrm rot="5400000">
              <a:off x="1143000" y="4572000"/>
              <a:ext cx="457200" cy="1524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457200" y="4876800"/>
              <a:ext cx="1752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Y only if data update required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  <p:sp>
        <p:nvSpPr>
          <p:cNvPr id="30" name="Rectangle 29"/>
          <p:cNvSpPr/>
          <p:nvPr/>
        </p:nvSpPr>
        <p:spPr>
          <a:xfrm>
            <a:off x="2667000" y="228600"/>
            <a:ext cx="3200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Updating Scope Sheet</a:t>
            </a:r>
            <a:endParaRPr lang="en-US" sz="24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6477000" y="2819400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Should have Friday’s date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 rot="16200000" flipH="1">
            <a:off x="6400800" y="2362200"/>
            <a:ext cx="457200" cy="4572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304800"/>
            <a:ext cx="3486150" cy="412750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Updating Scope Sheet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Incidents Impacted Fields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228600" y="1828800"/>
            <a:ext cx="8229600" cy="2523530"/>
            <a:chOff x="304800" y="2895600"/>
            <a:chExt cx="8229600" cy="2523530"/>
          </a:xfrm>
        </p:grpSpPr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43000" y="2895600"/>
              <a:ext cx="6400800" cy="1123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7" name="Straight Arrow Connector 16"/>
            <p:cNvCxnSpPr/>
            <p:nvPr/>
          </p:nvCxnSpPr>
          <p:spPr>
            <a:xfrm>
              <a:off x="3352800" y="3962400"/>
              <a:ext cx="837406" cy="532606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rot="5400000">
              <a:off x="1104900" y="4000500"/>
              <a:ext cx="609600" cy="381000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6324600" y="3962400"/>
              <a:ext cx="838200" cy="381000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304800" y="4495800"/>
              <a:ext cx="1828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Mandatory for all CR and Incidents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048000" y="4495800"/>
              <a:ext cx="28194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Description of technical solution that was done to resolve issue</a:t>
              </a:r>
              <a:endParaRPr lang="en-US" dirty="0">
                <a:solidFill>
                  <a:srgbClr val="00B05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00800" y="4419600"/>
              <a:ext cx="21336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00B050"/>
                  </a:solidFill>
                </a:rPr>
                <a:t>When will it be release? Ex: UAT 1, UAT 2….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All incidents that are hot-fixed or classified as release dependant, the</a:t>
            </a:r>
          </a:p>
          <a:p>
            <a:pPr>
              <a:buNone/>
            </a:pPr>
            <a:r>
              <a:rPr lang="en-US" dirty="0" smtClean="0"/>
              <a:t>following processes must be followed:</a:t>
            </a:r>
          </a:p>
          <a:p>
            <a:pPr>
              <a:buNone/>
            </a:pP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Prepare a DTD and sent for GDC for validation.</a:t>
            </a:r>
          </a:p>
          <a:p>
            <a:pPr marL="514350" indent="-514350">
              <a:buAutoNum type="arabicPeriod"/>
            </a:pPr>
            <a:r>
              <a:rPr lang="en-US" dirty="0" smtClean="0"/>
              <a:t>Once DTD is approved, we proceed with development in DEV.</a:t>
            </a:r>
          </a:p>
          <a:p>
            <a:pPr marL="514350" indent="-514350">
              <a:buAutoNum type="arabicPeriod"/>
            </a:pPr>
            <a:r>
              <a:rPr lang="en-US" dirty="0" smtClean="0"/>
              <a:t>Prepare unit test script</a:t>
            </a:r>
          </a:p>
          <a:p>
            <a:pPr marL="514350" indent="-514350">
              <a:buAutoNum type="arabicPeriod"/>
            </a:pPr>
            <a:r>
              <a:rPr lang="en-US" dirty="0" smtClean="0"/>
              <a:t>Log Data Issue log, SVN and prepare data update and add to post release tasks if required</a:t>
            </a:r>
          </a:p>
          <a:p>
            <a:pPr marL="514350" indent="-514350">
              <a:buAutoNum type="arabicPeriod"/>
            </a:pPr>
            <a:r>
              <a:rPr lang="en-US" dirty="0" smtClean="0"/>
              <a:t>Review CR or Incident and make user/Integration test script</a:t>
            </a:r>
          </a:p>
          <a:p>
            <a:pPr marL="514350" indent="-514350">
              <a:buAutoNum type="arabicPeriod"/>
            </a:pPr>
            <a:r>
              <a:rPr lang="en-US" dirty="0" smtClean="0"/>
              <a:t>Service Now and  scope sheet update</a:t>
            </a:r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AutoNum type="arabicPeriod"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1524000" y="381000"/>
            <a:ext cx="655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RELEASE DEPENDANT/ HOT FIX Incidents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304800"/>
            <a:ext cx="4419600" cy="457200"/>
          </a:xfrm>
        </p:spPr>
        <p:txBody>
          <a:bodyPr>
            <a:normAutofit fontScale="90000"/>
          </a:bodyPr>
          <a:lstStyle/>
          <a:p>
            <a:r>
              <a:rPr lang="en-US" sz="2800" kern="1200" dirty="0">
                <a:solidFill>
                  <a:schemeClr val="accent1">
                    <a:lumMod val="50000"/>
                  </a:schemeClr>
                </a:solidFill>
              </a:rPr>
              <a:t>3. </a:t>
            </a:r>
            <a:r>
              <a:rPr lang="en-US" sz="2800" kern="1200" dirty="0" smtClean="0">
                <a:solidFill>
                  <a:schemeClr val="accent1">
                    <a:lumMod val="50000"/>
                  </a:schemeClr>
                </a:solidFill>
              </a:rPr>
              <a:t>SharePoint UPDATE</a:t>
            </a:r>
            <a:endParaRPr lang="en-US" sz="2800" kern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447800"/>
            <a:ext cx="7772400" cy="38100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Link to SharePoint:</a:t>
            </a:r>
          </a:p>
          <a:p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http://moss.jti.com/sites/TME/Testing/Lists/Oct12%20Release%20Log/AllItems.aspx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The different stages of a CR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0070C0"/>
                </a:solidFill>
              </a:rPr>
              <a:t>Analysis :  </a:t>
            </a:r>
            <a:r>
              <a:rPr lang="en-US" dirty="0" smtClean="0">
                <a:solidFill>
                  <a:schemeClr val="tx1"/>
                </a:solidFill>
              </a:rPr>
              <a:t>For analysis &amp; estimation period, i.e. . DTD preparation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100" dirty="0" smtClean="0">
                <a:solidFill>
                  <a:srgbClr val="0070C0"/>
                </a:solidFill>
              </a:rPr>
              <a:t>Estimates Ready: </a:t>
            </a:r>
            <a:r>
              <a:rPr lang="en-US" dirty="0" smtClean="0">
                <a:solidFill>
                  <a:schemeClr val="tx1"/>
                </a:solidFill>
              </a:rPr>
              <a:t>Once DTD is ready for validation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0070C0"/>
                </a:solidFill>
              </a:rPr>
              <a:t>Business Approval : </a:t>
            </a:r>
            <a:r>
              <a:rPr lang="en-US" dirty="0" smtClean="0">
                <a:solidFill>
                  <a:schemeClr val="tx1"/>
                </a:solidFill>
              </a:rPr>
              <a:t>GDC approves  DTD and CR goes into DEV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0070C0"/>
                </a:solidFill>
              </a:rPr>
              <a:t>Pending for Review : </a:t>
            </a:r>
            <a:r>
              <a:rPr lang="en-US" dirty="0" smtClean="0">
                <a:solidFill>
                  <a:schemeClr val="tx1"/>
                </a:solidFill>
              </a:rPr>
              <a:t>DEV completed and CR is ready to be reviewed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0070C0"/>
                </a:solidFill>
              </a:rPr>
              <a:t>Ready in UAT:  </a:t>
            </a:r>
            <a:r>
              <a:rPr lang="en-US" dirty="0" smtClean="0">
                <a:solidFill>
                  <a:schemeClr val="tx1"/>
                </a:solidFill>
              </a:rPr>
              <a:t>Both DEV and Peer review completed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0070C0"/>
                </a:solidFill>
              </a:rPr>
              <a:t>Rejected: </a:t>
            </a:r>
            <a:r>
              <a:rPr lang="en-US" dirty="0" smtClean="0">
                <a:solidFill>
                  <a:schemeClr val="tx1"/>
                </a:solidFill>
              </a:rPr>
              <a:t>CR was rejected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0070C0"/>
                </a:solidFill>
              </a:rPr>
              <a:t>More Info Needed: </a:t>
            </a:r>
            <a:r>
              <a:rPr lang="en-US" dirty="0" smtClean="0"/>
              <a:t>When FD is not clear or we require additional details from COE, we re-assign CR with appropriate description and set status to More Info Needed.</a:t>
            </a:r>
            <a:endParaRPr lang="en-US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914400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F0"/>
                </a:solidFill>
              </a:rPr>
              <a:t>3. 1 Select tab to update</a:t>
            </a:r>
            <a:endParaRPr lang="en-US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WHEN?</a:t>
            </a:r>
          </a:p>
          <a:p>
            <a:pPr>
              <a:buNone/>
            </a:pPr>
            <a:r>
              <a:rPr lang="en-US" dirty="0" smtClean="0"/>
              <a:t>	On a daily basis.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>
                <a:solidFill>
                  <a:srgbClr val="0070C0"/>
                </a:solidFill>
              </a:rPr>
              <a:t>WHAT to update?</a:t>
            </a:r>
          </a:p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</a:rPr>
              <a:t>       </a:t>
            </a:r>
            <a:r>
              <a:rPr lang="en-US" dirty="0" smtClean="0"/>
              <a:t>Total Effort Burnt, Development Status, short description of current status.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590800" y="228600"/>
            <a:ext cx="32766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b="1" cap="all" dirty="0" smtClean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SharePoint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500" b="1" cap="all" dirty="0" smtClean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UPDATE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447800" y="3200400"/>
            <a:ext cx="6076950" cy="2924175"/>
            <a:chOff x="1219200" y="3200400"/>
            <a:chExt cx="6076950" cy="2924175"/>
          </a:xfrm>
        </p:grpSpPr>
        <p:pic>
          <p:nvPicPr>
            <p:cNvPr id="6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19200" y="3200400"/>
              <a:ext cx="6076950" cy="2924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Rectangle 6"/>
            <p:cNvSpPr/>
            <p:nvPr/>
          </p:nvSpPr>
          <p:spPr>
            <a:xfrm>
              <a:off x="1219200" y="3733800"/>
              <a:ext cx="1600200" cy="381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19200" y="4953000"/>
              <a:ext cx="1600200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19200" y="4114800"/>
              <a:ext cx="1600200" cy="228600"/>
            </a:xfrm>
            <a:prstGeom prst="rect">
              <a:avLst/>
            </a:prstGeom>
            <a:noFill/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28600" y="3581401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B050"/>
                </a:solidFill>
              </a:rPr>
              <a:t>Always assigned to Arnaud for MRU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8600" y="4495800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B0F0"/>
                </a:solidFill>
              </a:rPr>
              <a:t>Effort estimated as per analysis done</a:t>
            </a:r>
            <a:endParaRPr lang="en-US" sz="12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WHEN?</a:t>
            </a:r>
          </a:p>
          <a:p>
            <a:pPr>
              <a:buNone/>
            </a:pPr>
            <a:r>
              <a:rPr lang="en-US" dirty="0" smtClean="0"/>
              <a:t>	On a daily basis.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WHAT to update?</a:t>
            </a:r>
          </a:p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</a:rPr>
              <a:t>       </a:t>
            </a:r>
            <a:r>
              <a:rPr lang="en-US" dirty="0" smtClean="0"/>
              <a:t>Once you start working on an incident, we update incident and  change TME Fixing, Testing Stage to “Work in Progress in MRU”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209800" y="152400"/>
            <a:ext cx="4419600" cy="457200"/>
          </a:xfrm>
        </p:spPr>
        <p:txBody>
          <a:bodyPr>
            <a:normAutofit fontScale="90000"/>
          </a:bodyPr>
          <a:lstStyle/>
          <a:p>
            <a:r>
              <a:rPr lang="en-US" sz="2800" kern="1200" dirty="0" smtClean="0">
                <a:solidFill>
                  <a:schemeClr val="accent1">
                    <a:lumMod val="50000"/>
                  </a:schemeClr>
                </a:solidFill>
              </a:rPr>
              <a:t>4. INCIDENT  UPDATE</a:t>
            </a:r>
            <a:endParaRPr lang="en-US" sz="2800" kern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Content Placeholder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895600"/>
            <a:ext cx="7001911" cy="3204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4419600" y="5791200"/>
            <a:ext cx="281940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620000" y="4114800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B050"/>
                </a:solidFill>
              </a:rPr>
              <a:t>By default should be set to No (Initially None)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0" y="5257800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B050"/>
                </a:solidFill>
              </a:rPr>
              <a:t>Important field, should be updated accordingly</a:t>
            </a:r>
            <a:endParaRPr lang="en-US" sz="1200" dirty="0">
              <a:solidFill>
                <a:srgbClr val="00B05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 rot="10800000" flipV="1">
            <a:off x="5943600" y="4572000"/>
            <a:ext cx="1752600" cy="11430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>
            <a:stCxn id="10" idx="1"/>
            <a:endCxn id="9" idx="3"/>
          </p:cNvCxnSpPr>
          <p:nvPr/>
        </p:nvCxnSpPr>
        <p:spPr bwMode="auto">
          <a:xfrm rot="10800000" flipV="1">
            <a:off x="7239000" y="5673298"/>
            <a:ext cx="533400" cy="19410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333399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28600"/>
            <a:ext cx="5715000" cy="457200"/>
          </a:xfrm>
        </p:spPr>
        <p:txBody>
          <a:bodyPr/>
          <a:lstStyle/>
          <a:p>
            <a:r>
              <a:rPr lang="en-US" dirty="0" smtClean="0">
                <a:solidFill>
                  <a:schemeClr val="accent5">
                    <a:lumMod val="50000"/>
                  </a:schemeClr>
                </a:solidFill>
              </a:rPr>
              <a:t>Update Impacted Object Document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None/>
            </a:pPr>
            <a:r>
              <a:rPr lang="en-US" dirty="0" smtClean="0"/>
              <a:t>This document need to be </a:t>
            </a:r>
            <a:r>
              <a:rPr lang="en-US" b="1" dirty="0" smtClean="0"/>
              <a:t>updated</a:t>
            </a:r>
            <a:r>
              <a:rPr lang="en-US" dirty="0" smtClean="0"/>
              <a:t> by the </a:t>
            </a:r>
            <a:r>
              <a:rPr lang="en-US" b="1" dirty="0" smtClean="0"/>
              <a:t>Developer</a:t>
            </a:r>
            <a:r>
              <a:rPr lang="en-US" dirty="0" smtClean="0"/>
              <a:t> of the </a:t>
            </a:r>
            <a:r>
              <a:rPr lang="en-US" b="1" i="1" dirty="0" smtClean="0"/>
              <a:t>Change</a:t>
            </a:r>
          </a:p>
          <a:p>
            <a:pPr marL="457200" indent="-457200">
              <a:buNone/>
            </a:pPr>
            <a:r>
              <a:rPr lang="en-US" b="1" i="1" dirty="0" smtClean="0"/>
              <a:t>Request/Incident or Defect</a:t>
            </a:r>
            <a:r>
              <a:rPr lang="en-US" dirty="0" smtClean="0"/>
              <a:t> to include the impacted Object per change request. </a:t>
            </a:r>
          </a:p>
          <a:p>
            <a:pPr marL="457200" indent="-457200">
              <a:buNone/>
            </a:pPr>
            <a:r>
              <a:rPr lang="en-US" dirty="0" smtClean="0"/>
              <a:t>You have several sections that need to be filled as follows:</a:t>
            </a:r>
          </a:p>
          <a:p>
            <a:pPr marL="457200" indent="-457200">
              <a:buNone/>
            </a:pPr>
            <a:endParaRPr lang="en-US" b="1" u="sng" dirty="0" smtClean="0"/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b="1" u="sng" dirty="0" smtClean="0"/>
              <a:t>INFORMATICA</a:t>
            </a:r>
          </a:p>
          <a:p>
            <a:pPr marL="457200" indent="-457200">
              <a:buFont typeface="Wingdings" pitchFamily="2" charset="2"/>
              <a:buAutoNum type="arabicPeriod"/>
            </a:pPr>
            <a:endParaRPr lang="en-US" b="1" u="sng" dirty="0" smtClean="0"/>
          </a:p>
          <a:p>
            <a:pPr marL="457200" indent="-457200">
              <a:buFont typeface="Wingdings" pitchFamily="2" charset="2"/>
              <a:buAutoNum type="arabicPeriod"/>
            </a:pPr>
            <a:endParaRPr lang="en-US" b="1" u="sng" dirty="0" smtClean="0"/>
          </a:p>
          <a:p>
            <a:pPr marL="457200" lvl="0" indent="-457200">
              <a:buFont typeface="Wingdings" pitchFamily="2" charset="2"/>
              <a:buAutoNum type="arabicPeriod"/>
            </a:pPr>
            <a:endParaRPr lang="fr-FR" b="1" u="sng" dirty="0" smtClean="0"/>
          </a:p>
          <a:p>
            <a:pPr marL="457200" lvl="0" indent="-457200">
              <a:buFont typeface="Wingdings" pitchFamily="2" charset="2"/>
              <a:buAutoNum type="arabicPeriod"/>
            </a:pPr>
            <a:endParaRPr lang="fr-FR" b="1" u="sng" dirty="0" smtClean="0"/>
          </a:p>
          <a:p>
            <a:pPr marL="457200" lvl="0" indent="-457200">
              <a:buFont typeface="Wingdings" pitchFamily="2" charset="2"/>
              <a:buAutoNum type="arabicPeriod"/>
            </a:pPr>
            <a:endParaRPr lang="fr-FR" b="1" u="sng" dirty="0" smtClean="0"/>
          </a:p>
          <a:p>
            <a:pPr marL="457200" lvl="0" indent="-457200">
              <a:buFont typeface="Wingdings" pitchFamily="2" charset="2"/>
              <a:buAutoNum type="arabicPeriod"/>
            </a:pPr>
            <a:r>
              <a:rPr lang="fr-FR" b="1" u="sng" dirty="0" smtClean="0"/>
              <a:t>IFB/ PHP/JAVA PARAMTER FILES ETC</a:t>
            </a:r>
          </a:p>
          <a:p>
            <a:pPr marL="457200" lvl="0" indent="-457200">
              <a:buFont typeface="Wingdings" pitchFamily="2" charset="2"/>
              <a:buAutoNum type="arabicPeriod"/>
            </a:pPr>
            <a:endParaRPr lang="fr-FR" b="1" u="sng" dirty="0" smtClean="0"/>
          </a:p>
          <a:p>
            <a:pPr marL="457200" lvl="0" indent="-457200">
              <a:buFont typeface="Wingdings" pitchFamily="2" charset="2"/>
              <a:buAutoNum type="arabicPeriod"/>
            </a:pPr>
            <a:endParaRPr lang="fr-FR" b="1" u="sng" dirty="0" smtClean="0"/>
          </a:p>
          <a:p>
            <a:pPr marL="457200" lvl="0" indent="-457200">
              <a:buFont typeface="Wingdings" pitchFamily="2" charset="2"/>
              <a:buAutoNum type="arabicPeriod"/>
            </a:pPr>
            <a:endParaRPr lang="fr-FR" b="1" u="sng" dirty="0" smtClean="0"/>
          </a:p>
          <a:p>
            <a:pPr marL="457200" indent="-457200">
              <a:buAutoNum type="arabicPeriod"/>
            </a:pPr>
            <a:endParaRPr lang="en-US" dirty="0"/>
          </a:p>
        </p:txBody>
      </p:sp>
      <p:pic>
        <p:nvPicPr>
          <p:cNvPr id="4" name="Picture 1" descr="image0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048000"/>
            <a:ext cx="6508747" cy="1236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 descr="image0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5105400"/>
            <a:ext cx="3276600" cy="94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00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676400"/>
            <a:ext cx="53721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85800" y="1066800"/>
            <a:ext cx="40221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/>
            <a:r>
              <a:rPr lang="fr-FR" b="1" dirty="0" smtClean="0"/>
              <a:t>3.   </a:t>
            </a:r>
            <a:r>
              <a:rPr lang="fr-FR" b="1" u="sng" dirty="0" smtClean="0"/>
              <a:t> IFB/ PHP/JAVA PARAMTER FILES ETC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115" y="5181600"/>
            <a:ext cx="8077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F0"/>
                </a:solidFill>
              </a:rPr>
              <a:t>Document Path:</a:t>
            </a:r>
          </a:p>
          <a:p>
            <a:r>
              <a:rPr lang="en-US" i="1" dirty="0" smtClean="0"/>
              <a:t>J:\TME_JTI_PROJECT\1) General\4_RELEASE_MANAGEMENT\00_Release PROD Oct 2014\04_Release Docs\003-Data\ NOV_2014_Data_Impacted_Objects.xlsx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76915" y="2875002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/>
            <a:r>
              <a:rPr lang="fr-FR" b="1" dirty="0" smtClean="0"/>
              <a:t>4. DB</a:t>
            </a:r>
            <a:endParaRPr lang="fr-FR" b="1" u="sng" dirty="0" smtClean="0"/>
          </a:p>
        </p:txBody>
      </p:sp>
      <p:sp>
        <p:nvSpPr>
          <p:cNvPr id="8" name="Rectangle 7"/>
          <p:cNvSpPr/>
          <p:nvPr/>
        </p:nvSpPr>
        <p:spPr>
          <a:xfrm>
            <a:off x="653115" y="4045466"/>
            <a:ext cx="3618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457200"/>
            <a:r>
              <a:rPr lang="fr-FR" b="1" dirty="0" smtClean="0"/>
              <a:t>5. Documents to </a:t>
            </a:r>
            <a:r>
              <a:rPr lang="fr-FR" b="1" dirty="0" err="1" smtClean="0"/>
              <a:t>be</a:t>
            </a:r>
            <a:r>
              <a:rPr lang="fr-FR" b="1" dirty="0" smtClean="0"/>
              <a:t> </a:t>
            </a:r>
            <a:r>
              <a:rPr lang="fr-FR" b="1" dirty="0" err="1" smtClean="0"/>
              <a:t>delivered</a:t>
            </a:r>
            <a:r>
              <a:rPr lang="fr-FR" b="1" dirty="0" smtClean="0"/>
              <a:t> on RD</a:t>
            </a:r>
            <a:endParaRPr lang="fr-FR" b="1" u="sng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237468"/>
            <a:ext cx="63246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025" y="4414798"/>
            <a:ext cx="7369576" cy="766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6994525" cy="641350"/>
          </a:xfrm>
        </p:spPr>
        <p:txBody>
          <a:bodyPr/>
          <a:lstStyle/>
          <a:p>
            <a:r>
              <a:rPr lang="en-US" sz="2500" kern="1200" dirty="0" smtClean="0">
                <a:solidFill>
                  <a:schemeClr val="accent1">
                    <a:lumMod val="50000"/>
                  </a:schemeClr>
                </a:solidFill>
              </a:rPr>
              <a:t>IMPORTANT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Service Now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1800" dirty="0">
                <a:hlinkClick r:id="rId2"/>
              </a:rPr>
              <a:t>https://</a:t>
            </a:r>
            <a:r>
              <a:rPr lang="en-US" sz="1800" dirty="0" smtClean="0">
                <a:hlinkClick r:id="rId2"/>
              </a:rPr>
              <a:t>jti.service-now.com/navpage.do</a:t>
            </a:r>
            <a:endParaRPr lang="en-US" sz="1800" dirty="0" smtClean="0"/>
          </a:p>
          <a:p>
            <a:r>
              <a:rPr lang="en-US" dirty="0" err="1" smtClean="0">
                <a:solidFill>
                  <a:srgbClr val="0070C0"/>
                </a:solidFill>
              </a:rPr>
              <a:t>Sharepoint</a:t>
            </a:r>
            <a:endParaRPr lang="en-US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1800" dirty="0" smtClean="0">
                <a:solidFill>
                  <a:srgbClr val="0070C0"/>
                </a:solidFill>
              </a:rPr>
              <a:t>       </a:t>
            </a:r>
            <a:r>
              <a:rPr lang="en-US" sz="1800" dirty="0" smtClean="0"/>
              <a:t>http://moss.jti.com/sites/TME/Testing/Lists/Oct12%20Release%20Log/AllItems.aspx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JTI Deliverables</a:t>
            </a:r>
            <a:r>
              <a:rPr lang="en-US" sz="1800" dirty="0" smtClean="0">
                <a:solidFill>
                  <a:srgbClr val="0070C0"/>
                </a:solidFill>
              </a:rPr>
              <a:t>       </a:t>
            </a:r>
            <a:r>
              <a:rPr lang="en-US" sz="1800" dirty="0">
                <a:hlinkClick r:id="rId3"/>
              </a:rPr>
              <a:t>https://jvpn.jti.com/sites/TME/it/Release%20Deliverables/Forms/,</a:t>
            </a:r>
            <a:r>
              <a:rPr lang="en-US" sz="1800" dirty="0" smtClean="0">
                <a:hlinkClick r:id="rId3"/>
              </a:rPr>
              <a:t>DanaInfo=apps.jti.com,SSO=U+AllItems.aspx</a:t>
            </a:r>
            <a:endParaRPr lang="en-US" sz="1800" dirty="0" smtClean="0"/>
          </a:p>
          <a:p>
            <a:r>
              <a:rPr lang="en-US" dirty="0" smtClean="0">
                <a:solidFill>
                  <a:srgbClr val="0070C0"/>
                </a:solidFill>
              </a:rPr>
              <a:t>Process and Templates Documents</a:t>
            </a:r>
          </a:p>
          <a:p>
            <a:pPr>
              <a:buNone/>
            </a:pPr>
            <a:r>
              <a:rPr lang="en-US" sz="1800" dirty="0" smtClean="0"/>
              <a:t>       J:\TME_JTI_PROJECT\1) General\4_RELEASE_MANAGEMENT\00_Release PROD NOV 2014\00_Process &amp; Templates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Data Issue Log</a:t>
            </a:r>
          </a:p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</a:rPr>
              <a:t>       </a:t>
            </a:r>
            <a:r>
              <a:rPr lang="en-US" sz="1800" dirty="0"/>
              <a:t>https://10.186.26.15/svn/svn_repos/Phase </a:t>
            </a:r>
            <a:r>
              <a:rPr lang="en-US" sz="1800" dirty="0" smtClean="0"/>
              <a:t>II/TME_Phase_2_AM/10_Data_Issue_Log</a:t>
            </a:r>
          </a:p>
          <a:p>
            <a:r>
              <a:rPr lang="en-US" dirty="0">
                <a:solidFill>
                  <a:srgbClr val="0070C0"/>
                </a:solidFill>
              </a:rPr>
              <a:t>HLFD Documents</a:t>
            </a:r>
          </a:p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</a:rPr>
              <a:t>      </a:t>
            </a:r>
            <a:r>
              <a:rPr lang="en-US" dirty="0"/>
              <a:t>https://10.186.26.15/svn/svn_repos/Phase II/EIM/08 - Interface 08/HLFD-Final</a:t>
            </a:r>
            <a:endParaRPr lang="en-US" dirty="0" smtClean="0"/>
          </a:p>
          <a:p>
            <a:endParaRPr lang="en-US" dirty="0" smtClean="0">
              <a:solidFill>
                <a:srgbClr val="0070C0"/>
              </a:solidFill>
            </a:endParaRPr>
          </a:p>
          <a:p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00B0F0"/>
                </a:solidFill>
              </a:rPr>
              <a:t>Impacted Object Document</a:t>
            </a:r>
          </a:p>
          <a:p>
            <a:pPr>
              <a:buNone/>
            </a:pPr>
            <a:r>
              <a:rPr lang="en-US" i="1" dirty="0" smtClean="0"/>
              <a:t>      J:\TME_JTI_PROJECT\1) General\4_RELEASE_MANAGEMENT\00_Release PROD Oct 2012\04_Release Docs\003-Data\ Oct_2012_Data_Impacted_Objects.xlsx</a:t>
            </a:r>
          </a:p>
          <a:p>
            <a:pPr>
              <a:buNone/>
            </a:pPr>
            <a:endParaRPr lang="en-US" i="1" dirty="0" smtClean="0"/>
          </a:p>
          <a:p>
            <a:r>
              <a:rPr lang="en-US" i="1" dirty="0" smtClean="0">
                <a:solidFill>
                  <a:srgbClr val="00B0F0"/>
                </a:solidFill>
              </a:rPr>
              <a:t>DTD</a:t>
            </a:r>
          </a:p>
          <a:p>
            <a:pPr>
              <a:buNone/>
            </a:pPr>
            <a:r>
              <a:rPr lang="en-US" i="1" dirty="0" smtClean="0"/>
              <a:t>	J</a:t>
            </a:r>
            <a:r>
              <a:rPr lang="en-US" i="1" dirty="0"/>
              <a:t>:\TME_JTI_PROJECT\1) General\4_RELEASE_MANAGEMENT\</a:t>
            </a:r>
            <a:r>
              <a:rPr lang="en-US" i="1" dirty="0" err="1"/>
              <a:t>A_Release</a:t>
            </a:r>
            <a:r>
              <a:rPr lang="en-US" i="1" dirty="0"/>
              <a:t> PROD Nov 2014\00_Process &amp; Templates\Data Detailed </a:t>
            </a:r>
            <a:r>
              <a:rPr lang="en-US" i="1" dirty="0" smtClean="0"/>
              <a:t>TD</a:t>
            </a:r>
          </a:p>
          <a:p>
            <a:pPr>
              <a:buNone/>
            </a:pPr>
            <a:endParaRPr lang="en-US" i="1" dirty="0" smtClean="0"/>
          </a:p>
          <a:p>
            <a:r>
              <a:rPr lang="en-US" i="1" dirty="0" smtClean="0">
                <a:solidFill>
                  <a:srgbClr val="00B0F0"/>
                </a:solidFill>
              </a:rPr>
              <a:t>Test Scripts</a:t>
            </a:r>
          </a:p>
          <a:p>
            <a:pPr>
              <a:buNone/>
            </a:pPr>
            <a:r>
              <a:rPr lang="en-US" i="1" dirty="0" smtClean="0"/>
              <a:t>	J</a:t>
            </a:r>
            <a:r>
              <a:rPr lang="en-US" i="1" dirty="0"/>
              <a:t>:\TME_JTI_PROJECT\1) General\4_RELEASE_MANAGEMENT\</a:t>
            </a:r>
            <a:r>
              <a:rPr lang="en-US" i="1" dirty="0" err="1"/>
              <a:t>A_Release</a:t>
            </a:r>
            <a:r>
              <a:rPr lang="en-US" i="1" dirty="0"/>
              <a:t> PROD Nov 2014\00_Process &amp; Templates\Test Scripts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4000" dirty="0" smtClean="0"/>
          </a:p>
          <a:p>
            <a:pPr lvl="1"/>
            <a:r>
              <a:rPr lang="en-US" sz="3900" dirty="0" smtClean="0">
                <a:solidFill>
                  <a:schemeClr val="accent5">
                    <a:lumMod val="50000"/>
                  </a:schemeClr>
                </a:solidFill>
              </a:rPr>
              <a:t>                QUESTIONS ?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TME-PMO-Template-Standard document Landscape (Font 20 and less)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333399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0" tIns="0" rIns="0" bIns="0" numCol="1" anchor="ctr" anchorCtr="0" compatLnSpc="1">
        <a:prstTxWarp prst="textNoShape">
          <a:avLst/>
        </a:prstTxWarp>
        <a:spAutoFit/>
      </a:bodyPr>
      <a:lstStyle>
        <a:defPPr marL="355600" marR="0" indent="-355600" algn="ctr" defTabSz="174625" rtl="0" eaLnBrk="0" fontAlgn="base" latinLnBrk="0" hangingPunct="0">
          <a:lnSpc>
            <a:spcPct val="90000"/>
          </a:lnSpc>
          <a:spcBef>
            <a:spcPct val="20000"/>
          </a:spcBef>
          <a:spcAft>
            <a:spcPct val="0"/>
          </a:spcAft>
          <a:buClr>
            <a:srgbClr val="008000"/>
          </a:buClr>
          <a:buSzTx/>
          <a:buFont typeface="Wingdings" pitchFamily="2" charset="2"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Book Antiqua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rgbClr val="333399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0" tIns="0" rIns="0" bIns="0" numCol="1" anchor="ctr" anchorCtr="0" compatLnSpc="1">
        <a:prstTxWarp prst="textNoShape">
          <a:avLst/>
        </a:prstTxWarp>
        <a:spAutoFit/>
      </a:bodyPr>
      <a:lstStyle>
        <a:defPPr marL="355600" marR="0" indent="-355600" algn="ctr" defTabSz="174625" rtl="0" eaLnBrk="0" fontAlgn="base" latinLnBrk="0" hangingPunct="0">
          <a:lnSpc>
            <a:spcPct val="90000"/>
          </a:lnSpc>
          <a:spcBef>
            <a:spcPct val="20000"/>
          </a:spcBef>
          <a:spcAft>
            <a:spcPct val="0"/>
          </a:spcAft>
          <a:buClr>
            <a:srgbClr val="008000"/>
          </a:buClr>
          <a:buSzTx/>
          <a:buFont typeface="Wingdings" pitchFamily="2" charset="2"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Book Antiqua" pitchFamily="18" charset="0"/>
          </a:defRPr>
        </a:defPPr>
      </a:lstStyle>
    </a:lnDef>
  </a:objectDefaults>
  <a:extraClrSchemeLst>
    <a:extraClrScheme>
      <a:clrScheme name="TME-PMO-Template-Standard document Landscape (Font 20 and less)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E-PMO-Template-Standard document Landscape (Font 20 and less)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E-PMO-Template-Standard document Landscape (Font 20 and less)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E-PMO-Template-Standard document Landscape (Font 20 and less)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E-PMO-Template-Standard document Landscape (Font 20 and less)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E-PMO-Template-Standard document Landscape (Font 20 and less)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E-PMO-Template-Standard document Landscape (Font 20 and less)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754</TotalTime>
  <Words>2361</Words>
  <Application>Microsoft Office PowerPoint</Application>
  <PresentationFormat>On-screen Show (4:3)</PresentationFormat>
  <Paragraphs>335</Paragraphs>
  <Slides>28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Theme1</vt:lpstr>
      <vt:lpstr>PowerPoint Presentation</vt:lpstr>
      <vt:lpstr>PowerPoint Presentation</vt:lpstr>
      <vt:lpstr>PowerPoint Presentation</vt:lpstr>
      <vt:lpstr>Step 1: Analysis</vt:lpstr>
      <vt:lpstr>PowerPoint Presentation</vt:lpstr>
      <vt:lpstr>Step 3: Development Phase</vt:lpstr>
      <vt:lpstr>PowerPoint Presentation</vt:lpstr>
      <vt:lpstr>Step 4: PEER REVIEW PROCESS</vt:lpstr>
      <vt:lpstr>PowerPoint Presentation</vt:lpstr>
      <vt:lpstr>5. READY IN DEV </vt:lpstr>
      <vt:lpstr>DEFECTS</vt:lpstr>
      <vt:lpstr>DEFECT RESOLUTION</vt:lpstr>
      <vt:lpstr>PowerPoint Presentation</vt:lpstr>
      <vt:lpstr>2. Updating Scope Sheet</vt:lpstr>
      <vt:lpstr>2.2 Fields that should be updated</vt:lpstr>
      <vt:lpstr>PowerPoint Presentation</vt:lpstr>
      <vt:lpstr>Updating Scope Sheet</vt:lpstr>
      <vt:lpstr>PowerPoint Presentation</vt:lpstr>
      <vt:lpstr>Updating Scope Sheet </vt:lpstr>
      <vt:lpstr>PowerPoint Presentation</vt:lpstr>
      <vt:lpstr>3. SharePoint UPDATE</vt:lpstr>
      <vt:lpstr>PowerPoint Presentation</vt:lpstr>
      <vt:lpstr>4. INCIDENT  UPDATE</vt:lpstr>
      <vt:lpstr>Update Impacted Object Document</vt:lpstr>
      <vt:lpstr>PowerPoint Presentation</vt:lpstr>
      <vt:lpstr>IMPORTANT LINKS</vt:lpstr>
      <vt:lpstr>PowerPoint Presentation</vt:lpstr>
      <vt:lpstr>PowerPoint Presentation</vt:lpstr>
    </vt:vector>
  </TitlesOfParts>
  <Company>Accenture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Scope Sheet</dc:title>
  <dc:creator>Lina Kanhye</dc:creator>
  <cp:lastModifiedBy>lk</cp:lastModifiedBy>
  <cp:revision>86</cp:revision>
  <dcterms:created xsi:type="dcterms:W3CDTF">2012-06-21T11:18:17Z</dcterms:created>
  <dcterms:modified xsi:type="dcterms:W3CDTF">2014-06-13T11:14:43Z</dcterms:modified>
</cp:coreProperties>
</file>